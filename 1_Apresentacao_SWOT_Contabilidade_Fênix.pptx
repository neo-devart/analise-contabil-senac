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embeddedFontLst>
    <p:embeddedFont>
      <p:font typeface="Noto Sans Georgian" panose="020B0502040504020204" pitchFamily="34" charset="0"/>
      <p:regular r:id="rId8"/>
      <p:bold r:id="rId9"/>
    </p:embeddedFont>
    <p:embeddedFont>
      <p:font typeface="Open Sans" panose="020B0606030504020204" pitchFamily="34" charset="0"/>
      <p:bold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gauraLRzyIdVYtykdhxW6osbXK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33919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 rot="-853893">
            <a:off x="2180222" y="1348064"/>
            <a:ext cx="2240924" cy="2987899"/>
          </a:xfrm>
          <a:prstGeom prst="arc">
            <a:avLst>
              <a:gd name="adj1" fmla="val 14612914"/>
              <a:gd name="adj2" fmla="val 0"/>
            </a:avLst>
          </a:prstGeom>
          <a:noFill/>
          <a:ln w="127000" cap="rnd" cmpd="sng">
            <a:solidFill>
              <a:schemeClr val="accent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>
                <a:solidFill>
                  <a:srgbClr val="FFFFFF"/>
                </a:solidFill>
              </a:rPr>
              <a:t>O que é Análise </a:t>
            </a:r>
            <a:r>
              <a:rPr lang="en-US" b="1">
                <a:solidFill>
                  <a:srgbClr val="FFFFFF"/>
                </a:solidFill>
              </a:rPr>
              <a:t>S.W.O.T</a:t>
            </a:r>
            <a:r>
              <a:rPr lang="en-US">
                <a:solidFill>
                  <a:srgbClr val="FFFFFF"/>
                </a:solidFill>
              </a:rPr>
              <a:t>?</a:t>
            </a:r>
            <a:endParaRPr/>
          </a:p>
        </p:txBody>
      </p:sp>
      <p:grpSp>
        <p:nvGrpSpPr>
          <p:cNvPr id="88" name="Google Shape;88;p1"/>
          <p:cNvGrpSpPr/>
          <p:nvPr/>
        </p:nvGrpSpPr>
        <p:grpSpPr>
          <a:xfrm>
            <a:off x="3927763" y="658205"/>
            <a:ext cx="4727796" cy="5551814"/>
            <a:chOff x="0" y="4512"/>
            <a:chExt cx="4727796" cy="5551814"/>
          </a:xfrm>
        </p:grpSpPr>
        <p:sp>
          <p:nvSpPr>
            <p:cNvPr id="89" name="Google Shape;89;p1"/>
            <p:cNvSpPr/>
            <p:nvPr/>
          </p:nvSpPr>
          <p:spPr>
            <a:xfrm>
              <a:off x="0" y="4512"/>
              <a:ext cx="4727796" cy="612613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185315" y="142350"/>
              <a:ext cx="337267" cy="33693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707898" y="4512"/>
              <a:ext cx="3935219" cy="765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707898" y="4512"/>
              <a:ext cx="3935219" cy="765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025" tIns="81025" rIns="81025" bIns="81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Análise </a:t>
              </a: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S.W.O.T 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é uma ferramenta estratégica que avalia:</a:t>
              </a:r>
              <a:endParaRPr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0" y="961721"/>
              <a:ext cx="4727796" cy="612613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185315" y="1099559"/>
              <a:ext cx="337267" cy="336937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707898" y="961721"/>
              <a:ext cx="3935219" cy="765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707898" y="961721"/>
              <a:ext cx="3935219" cy="765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025" tIns="81025" rIns="81025" bIns="81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Pontos Fortes 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(Strengths</a:t>
              </a:r>
              <a:r>
                <a:rPr lang="en-US"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0" y="1882014"/>
              <a:ext cx="4727796" cy="612613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185315" y="2056769"/>
              <a:ext cx="337267" cy="336937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707898" y="1918931"/>
              <a:ext cx="3935219" cy="765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707898" y="1918931"/>
              <a:ext cx="3935219" cy="765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025" tIns="81025" rIns="81025" bIns="81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Pontos Fracos </a:t>
              </a: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Weaknesses)</a:t>
              </a:r>
              <a:endParaRPr/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0" y="2876140"/>
              <a:ext cx="4727796" cy="612613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185315" y="3013978"/>
              <a:ext cx="337267" cy="336937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707898" y="2876140"/>
              <a:ext cx="3935219" cy="765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707898" y="2876140"/>
              <a:ext cx="3935219" cy="765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025" tIns="81025" rIns="81025" bIns="81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Oportunidades </a:t>
              </a: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Opportunities</a:t>
              </a:r>
              <a:r>
                <a:rPr lang="en-US" sz="1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0" y="3833349"/>
              <a:ext cx="4727796" cy="612613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185315" y="3971187"/>
              <a:ext cx="337267" cy="336937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707898" y="3833349"/>
              <a:ext cx="3935219" cy="765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707898" y="3833349"/>
              <a:ext cx="3935219" cy="765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025" tIns="81025" rIns="81025" bIns="81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Calibri"/>
                <a:buNone/>
              </a:pPr>
              <a:r>
                <a:rPr lang="en-US" sz="15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Ameaças 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(Threats)</a:t>
              </a:r>
              <a:endParaRPr/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0" y="4790559"/>
              <a:ext cx="4727796" cy="612613"/>
            </a:xfrm>
            <a:prstGeom prst="roundRect">
              <a:avLst>
                <a:gd name="adj" fmla="val 10000"/>
              </a:avLst>
            </a:pr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185496" y="4928397"/>
              <a:ext cx="337267" cy="336937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708260" y="4790559"/>
              <a:ext cx="3842470" cy="765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"/>
            <p:cNvSpPr txBox="1"/>
            <p:nvPr/>
          </p:nvSpPr>
          <p:spPr>
            <a:xfrm>
              <a:off x="708260" y="4790559"/>
              <a:ext cx="3842470" cy="7657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1025" tIns="81025" rIns="81025" bIns="81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rPr lang="en-US" sz="16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Serve para auxiliar na tomada de decisões, planejar ações e aumentar a competitividade.</a:t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Calibri"/>
              <a:buNone/>
            </a:pPr>
            <a:r>
              <a:rPr lang="en-US" sz="4300"/>
              <a:t>Para que serve a Análise </a:t>
            </a:r>
            <a:r>
              <a:rPr lang="en-US" sz="4300" b="1"/>
              <a:t>S.W.O.T</a:t>
            </a:r>
            <a:r>
              <a:rPr lang="en-US" sz="4300"/>
              <a:t>?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628650" y="1865313"/>
            <a:ext cx="7818120" cy="18288"/>
          </a:xfrm>
          <a:custGeom>
            <a:avLst/>
            <a:gdLst/>
            <a:ahLst/>
            <a:cxnLst/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2"/>
          <p:cNvGrpSpPr/>
          <p:nvPr/>
        </p:nvGrpSpPr>
        <p:grpSpPr>
          <a:xfrm>
            <a:off x="628650" y="2600539"/>
            <a:ext cx="7886699" cy="3203971"/>
            <a:chOff x="0" y="372452"/>
            <a:chExt cx="7886699" cy="3203971"/>
          </a:xfrm>
        </p:grpSpPr>
        <p:sp>
          <p:nvSpPr>
            <p:cNvPr id="121" name="Google Shape;121;p2"/>
            <p:cNvSpPr/>
            <p:nvPr/>
          </p:nvSpPr>
          <p:spPr>
            <a:xfrm>
              <a:off x="0" y="372452"/>
              <a:ext cx="2464593" cy="1478756"/>
            </a:xfrm>
            <a:prstGeom prst="rect">
              <a:avLst/>
            </a:prstGeom>
            <a:solidFill>
              <a:srgbClr val="BF504D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 txBox="1"/>
            <p:nvPr/>
          </p:nvSpPr>
          <p:spPr>
            <a:xfrm>
              <a:off x="0" y="372452"/>
              <a:ext cx="2464593" cy="14787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en-US" sz="23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Identificar forças internas para potencializar.</a:t>
              </a: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2711053" y="372452"/>
              <a:ext cx="2464593" cy="1478756"/>
            </a:xfrm>
            <a:prstGeom prst="rect">
              <a:avLst/>
            </a:prstGeom>
            <a:solidFill>
              <a:srgbClr val="BD754F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2711053" y="372452"/>
              <a:ext cx="2464593" cy="14787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en-US" sz="23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Reconhecer fraquezas internas para melhorar.</a:t>
              </a: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5422106" y="372452"/>
              <a:ext cx="2464593" cy="1478756"/>
            </a:xfrm>
            <a:prstGeom prst="rect">
              <a:avLst/>
            </a:prstGeom>
            <a:solidFill>
              <a:srgbClr val="BB995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 txBox="1"/>
            <p:nvPr/>
          </p:nvSpPr>
          <p:spPr>
            <a:xfrm>
              <a:off x="5422106" y="372452"/>
              <a:ext cx="2464593" cy="14787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en-US" sz="23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Aproveitar oportunidades externas do mercado.</a:t>
              </a: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1355526" y="2097667"/>
              <a:ext cx="2464593" cy="1478756"/>
            </a:xfrm>
            <a:prstGeom prst="rect">
              <a:avLst/>
            </a:prstGeom>
            <a:solidFill>
              <a:srgbClr val="BABA55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 txBox="1"/>
            <p:nvPr/>
          </p:nvSpPr>
          <p:spPr>
            <a:xfrm>
              <a:off x="1355526" y="2097667"/>
              <a:ext cx="2464593" cy="14787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en-US" sz="23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Prevenir ou se proteger contra ameaças externas.</a:t>
              </a: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4066579" y="2097667"/>
              <a:ext cx="2464593" cy="1478756"/>
            </a:xfrm>
            <a:prstGeom prst="rect">
              <a:avLst/>
            </a:prstGeom>
            <a:solidFill>
              <a:srgbClr val="99B958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4066579" y="2097667"/>
              <a:ext cx="2464593" cy="14787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lang="en-US" sz="23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Resultado</a:t>
              </a:r>
              <a:r>
                <a:rPr lang="en-US" sz="23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: Melhor planejamento, posicionamento e crescimento.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/>
          <p:nvPr/>
        </p:nvSpPr>
        <p:spPr>
          <a:xfrm>
            <a:off x="0" y="0"/>
            <a:ext cx="9141713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3800"/>
              <a:t>S.W.O.T </a:t>
            </a:r>
            <a:r>
              <a:rPr lang="en-US" sz="3800">
                <a:latin typeface="Arial"/>
                <a:ea typeface="Arial"/>
                <a:cs typeface="Arial"/>
                <a:sym typeface="Arial"/>
              </a:rPr>
              <a:t>Contabilidade Fênix </a:t>
            </a:r>
            <a:r>
              <a:rPr lang="en-US" sz="3800"/>
              <a:t>(Interno) </a:t>
            </a:r>
            <a:endParaRPr/>
          </a:p>
        </p:txBody>
      </p:sp>
      <p:grpSp>
        <p:nvGrpSpPr>
          <p:cNvPr id="137" name="Google Shape;137;p3"/>
          <p:cNvGrpSpPr/>
          <p:nvPr/>
        </p:nvGrpSpPr>
        <p:grpSpPr>
          <a:xfrm>
            <a:off x="1244278" y="1827695"/>
            <a:ext cx="6655443" cy="4347197"/>
            <a:chOff x="615628" y="2070"/>
            <a:chExt cx="6655443" cy="4347197"/>
          </a:xfrm>
        </p:grpSpPr>
        <p:sp>
          <p:nvSpPr>
            <p:cNvPr id="138" name="Google Shape;138;p3"/>
            <p:cNvSpPr/>
            <p:nvPr/>
          </p:nvSpPr>
          <p:spPr>
            <a:xfrm>
              <a:off x="2537366" y="533412"/>
              <a:ext cx="411813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BF504D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 txBox="1"/>
            <p:nvPr/>
          </p:nvSpPr>
          <p:spPr>
            <a:xfrm>
              <a:off x="2732213" y="576920"/>
              <a:ext cx="22120" cy="4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615628" y="2070"/>
              <a:ext cx="1923538" cy="1154123"/>
            </a:xfrm>
            <a:prstGeom prst="rect">
              <a:avLst/>
            </a:prstGeom>
            <a:solidFill>
              <a:srgbClr val="BF504D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 txBox="1"/>
            <p:nvPr/>
          </p:nvSpPr>
          <p:spPr>
            <a:xfrm>
              <a:off x="615628" y="2070"/>
              <a:ext cx="1923538" cy="1154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4250" tIns="98925" rIns="94250" bIns="989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 Rounded"/>
                <a:buNone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 Rounded"/>
                  <a:ea typeface="Arial Rounded"/>
                  <a:cs typeface="Arial Rounded"/>
                  <a:sym typeface="Arial Rounded"/>
                </a:rPr>
                <a:t>Pontos Fortes</a:t>
              </a: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4903319" y="533412"/>
              <a:ext cx="411813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BD654E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 txBox="1"/>
            <p:nvPr/>
          </p:nvSpPr>
          <p:spPr>
            <a:xfrm>
              <a:off x="5098165" y="576920"/>
              <a:ext cx="22120" cy="4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2981580" y="2070"/>
              <a:ext cx="1923538" cy="1154123"/>
            </a:xfrm>
            <a:prstGeom prst="rect">
              <a:avLst/>
            </a:prstGeom>
            <a:solidFill>
              <a:srgbClr val="BE624D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 txBox="1"/>
            <p:nvPr/>
          </p:nvSpPr>
          <p:spPr>
            <a:xfrm>
              <a:off x="2981580" y="2070"/>
              <a:ext cx="1923538" cy="1154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4250" tIns="98925" rIns="94250" bIns="989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Localização em bairro </a:t>
              </a:r>
              <a:r>
                <a:rPr lang="en-U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central</a:t>
              </a:r>
              <a:r>
                <a:rPr lang="en-US" sz="17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1577397" y="1154393"/>
              <a:ext cx="4731904" cy="41181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4983"/>
                  </a:lnTo>
                  <a:lnTo>
                    <a:pt x="0" y="64983"/>
                  </a:lnTo>
                  <a:lnTo>
                    <a:pt x="0" y="120000"/>
                  </a:lnTo>
                </a:path>
              </a:pathLst>
            </a:custGeom>
            <a:noFill/>
            <a:ln w="9525" cap="flat" cmpd="sng">
              <a:solidFill>
                <a:srgbClr val="BC7B50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 txBox="1"/>
            <p:nvPr/>
          </p:nvSpPr>
          <p:spPr>
            <a:xfrm>
              <a:off x="3824536" y="1358088"/>
              <a:ext cx="237627" cy="4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347533" y="2070"/>
              <a:ext cx="1923538" cy="1154123"/>
            </a:xfrm>
            <a:prstGeom prst="rect">
              <a:avLst/>
            </a:prstGeom>
            <a:solidFill>
              <a:srgbClr val="BD754F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 txBox="1"/>
            <p:nvPr/>
          </p:nvSpPr>
          <p:spPr>
            <a:xfrm>
              <a:off x="5347533" y="2070"/>
              <a:ext cx="1923538" cy="1154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4250" tIns="98925" rIns="94250" bIns="989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Espaço </a:t>
              </a:r>
              <a:r>
                <a:rPr lang="en-U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amplo com estacionamento.</a:t>
              </a: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2537366" y="2129949"/>
              <a:ext cx="411813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BB9052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 txBox="1"/>
            <p:nvPr/>
          </p:nvSpPr>
          <p:spPr>
            <a:xfrm>
              <a:off x="2732213" y="2173456"/>
              <a:ext cx="22120" cy="4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615628" y="1598607"/>
              <a:ext cx="1923538" cy="1154123"/>
            </a:xfrm>
            <a:prstGeom prst="rect">
              <a:avLst/>
            </a:prstGeom>
            <a:solidFill>
              <a:srgbClr val="BC8850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 txBox="1"/>
            <p:nvPr/>
          </p:nvSpPr>
          <p:spPr>
            <a:xfrm>
              <a:off x="615628" y="1598607"/>
              <a:ext cx="1923538" cy="1154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4250" tIns="98925" rIns="94250" bIns="989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Atendimento especializado</a:t>
              </a:r>
              <a:r>
                <a:rPr lang="en-US" sz="17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4903319" y="2129949"/>
              <a:ext cx="411813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BBA353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 txBox="1"/>
            <p:nvPr/>
          </p:nvSpPr>
          <p:spPr>
            <a:xfrm>
              <a:off x="5098165" y="2173456"/>
              <a:ext cx="22120" cy="4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2981580" y="1598607"/>
              <a:ext cx="1923538" cy="1154123"/>
            </a:xfrm>
            <a:prstGeom prst="rect">
              <a:avLst/>
            </a:prstGeom>
            <a:solidFill>
              <a:srgbClr val="BB995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 txBox="1"/>
            <p:nvPr/>
          </p:nvSpPr>
          <p:spPr>
            <a:xfrm>
              <a:off x="2981580" y="1598607"/>
              <a:ext cx="1923538" cy="1154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4250" tIns="98925" rIns="94250" bIns="989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Qualidade </a:t>
              </a:r>
              <a:r>
                <a:rPr lang="en-U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na entrega dos serviços</a:t>
              </a: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1577397" y="2750930"/>
              <a:ext cx="4731904" cy="41181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4983"/>
                  </a:lnTo>
                  <a:lnTo>
                    <a:pt x="0" y="64983"/>
                  </a:lnTo>
                  <a:lnTo>
                    <a:pt x="0" y="120000"/>
                  </a:lnTo>
                </a:path>
              </a:pathLst>
            </a:custGeom>
            <a:noFill/>
            <a:ln w="9525" cap="flat" cmpd="sng">
              <a:solidFill>
                <a:srgbClr val="BAB655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 txBox="1"/>
            <p:nvPr/>
          </p:nvSpPr>
          <p:spPr>
            <a:xfrm>
              <a:off x="3824536" y="2954625"/>
              <a:ext cx="237627" cy="4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347533" y="1598607"/>
              <a:ext cx="1923538" cy="1154123"/>
            </a:xfrm>
            <a:prstGeom prst="rect">
              <a:avLst/>
            </a:prstGeom>
            <a:solidFill>
              <a:srgbClr val="76923C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 txBox="1"/>
            <p:nvPr/>
          </p:nvSpPr>
          <p:spPr>
            <a:xfrm>
              <a:off x="5347533" y="1598607"/>
              <a:ext cx="1923538" cy="1154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4250" tIns="98925" rIns="94250" bIns="989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Arial Rounded"/>
                <a:buNone/>
              </a:pPr>
              <a:r>
                <a:rPr lang="en-US" sz="1700" b="1" i="0" u="none" strike="noStrike" cap="none">
                  <a:solidFill>
                    <a:schemeClr val="lt1"/>
                  </a:solidFill>
                  <a:latin typeface="Arial Rounded"/>
                  <a:ea typeface="Arial Rounded"/>
                  <a:cs typeface="Arial Rounded"/>
                  <a:sym typeface="Arial Rounded"/>
                </a:rPr>
                <a:t>Pontos Fracos</a:t>
              </a:r>
              <a:endParaRPr sz="1700" b="1" i="0" u="none" strike="noStrike" cap="none">
                <a:solidFill>
                  <a:schemeClr val="lt1"/>
                </a:solidFill>
                <a:latin typeface="Arial Rounded"/>
                <a:ea typeface="Arial Rounded"/>
                <a:cs typeface="Arial Rounded"/>
                <a:sym typeface="Arial Rounded"/>
              </a:endParaRP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2537366" y="3726485"/>
              <a:ext cx="411813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ACB957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 txBox="1"/>
            <p:nvPr/>
          </p:nvSpPr>
          <p:spPr>
            <a:xfrm>
              <a:off x="2732213" y="3769993"/>
              <a:ext cx="22120" cy="4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615628" y="3195144"/>
              <a:ext cx="1923538" cy="1154123"/>
            </a:xfrm>
            <a:prstGeom prst="rect">
              <a:avLst/>
            </a:prstGeom>
            <a:solidFill>
              <a:srgbClr val="BABA55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 txBox="1"/>
            <p:nvPr/>
          </p:nvSpPr>
          <p:spPr>
            <a:xfrm>
              <a:off x="615628" y="3195144"/>
              <a:ext cx="1923538" cy="1154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4250" tIns="98925" rIns="94250" bIns="989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Aluguel mais caro</a:t>
              </a: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4903319" y="3726485"/>
              <a:ext cx="411813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99B958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 txBox="1"/>
            <p:nvPr/>
          </p:nvSpPr>
          <p:spPr>
            <a:xfrm>
              <a:off x="5098165" y="3769993"/>
              <a:ext cx="22120" cy="4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2981580" y="3195144"/>
              <a:ext cx="1923538" cy="1154123"/>
            </a:xfrm>
            <a:prstGeom prst="rect">
              <a:avLst/>
            </a:prstGeom>
            <a:solidFill>
              <a:srgbClr val="AAB957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 txBox="1"/>
            <p:nvPr/>
          </p:nvSpPr>
          <p:spPr>
            <a:xfrm>
              <a:off x="2981580" y="3195144"/>
              <a:ext cx="1923538" cy="1154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4250" tIns="98925" rIns="94250" bIns="98925" anchor="ctr" anchorCtr="0">
              <a:noAutofit/>
            </a:bodyPr>
            <a:lstStyle/>
            <a:p>
              <a:pPr marL="0" marR="0" lvl="0" indent="4572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lang="en-U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Maior </a:t>
              </a:r>
              <a:br>
                <a:rPr lang="en-U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Concorrência</a:t>
              </a:r>
              <a:endParaRPr/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5347533" y="3195144"/>
              <a:ext cx="1923538" cy="1154123"/>
            </a:xfrm>
            <a:prstGeom prst="rect">
              <a:avLst/>
            </a:prstGeom>
            <a:solidFill>
              <a:srgbClr val="99B958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3"/>
            <p:cNvSpPr txBox="1"/>
            <p:nvPr/>
          </p:nvSpPr>
          <p:spPr>
            <a:xfrm>
              <a:off x="5347533" y="3195144"/>
              <a:ext cx="1923538" cy="1154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4250" tIns="98925" rIns="94250" bIns="989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700"/>
                <a:buFont typeface="Calibri"/>
                <a:buNone/>
              </a:pPr>
              <a:r>
                <a:rPr lang="en-US" sz="17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7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Clientela tradicional</a:t>
              </a:r>
              <a:endParaRPr/>
            </a:p>
          </p:txBody>
        </p:sp>
      </p:grpSp>
      <p:sp>
        <p:nvSpPr>
          <p:cNvPr id="172" name="Google Shape;172;p3"/>
          <p:cNvSpPr/>
          <p:nvPr/>
        </p:nvSpPr>
        <p:spPr>
          <a:xfrm>
            <a:off x="1229032" y="1825625"/>
            <a:ext cx="1927123" cy="1133693"/>
          </a:xfrm>
          <a:prstGeom prst="frame">
            <a:avLst>
              <a:gd name="adj1" fmla="val 12500"/>
            </a:avLst>
          </a:prstGeom>
          <a:solidFill>
            <a:schemeClr val="accent2"/>
          </a:solidFill>
          <a:ln w="9525" cap="flat" cmpd="sng">
            <a:solidFill>
              <a:srgbClr val="95373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"/>
          <p:cNvSpPr/>
          <p:nvPr/>
        </p:nvSpPr>
        <p:spPr>
          <a:xfrm>
            <a:off x="6007510" y="3429000"/>
            <a:ext cx="1927122" cy="1133693"/>
          </a:xfrm>
          <a:prstGeom prst="frame">
            <a:avLst>
              <a:gd name="adj1" fmla="val 12500"/>
            </a:avLst>
          </a:prstGeom>
          <a:solidFill>
            <a:srgbClr val="76923C"/>
          </a:solidFill>
          <a:ln w="9525" cap="flat" cmpd="sng">
            <a:solidFill>
              <a:srgbClr val="4F612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"/>
          <p:cNvSpPr/>
          <p:nvPr/>
        </p:nvSpPr>
        <p:spPr>
          <a:xfrm>
            <a:off x="0" y="0"/>
            <a:ext cx="9141713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 txBox="1"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S.W.O.T </a:t>
            </a:r>
            <a:r>
              <a:rPr lang="en-US" sz="3600">
                <a:latin typeface="Arial"/>
                <a:ea typeface="Arial"/>
                <a:cs typeface="Arial"/>
                <a:sym typeface="Arial"/>
              </a:rPr>
              <a:t>Contabilidade Fênix </a:t>
            </a:r>
            <a:r>
              <a:rPr lang="en-US" sz="3600"/>
              <a:t>(Externo)</a:t>
            </a:r>
            <a:endParaRPr sz="3400"/>
          </a:p>
        </p:txBody>
      </p:sp>
      <p:grpSp>
        <p:nvGrpSpPr>
          <p:cNvPr id="180" name="Google Shape;180;p4"/>
          <p:cNvGrpSpPr/>
          <p:nvPr/>
        </p:nvGrpSpPr>
        <p:grpSpPr>
          <a:xfrm>
            <a:off x="630219" y="2101843"/>
            <a:ext cx="7883560" cy="3798900"/>
            <a:chOff x="1569" y="276218"/>
            <a:chExt cx="7883560" cy="3798900"/>
          </a:xfrm>
        </p:grpSpPr>
        <p:sp>
          <p:nvSpPr>
            <p:cNvPr id="181" name="Google Shape;181;p4"/>
            <p:cNvSpPr/>
            <p:nvPr/>
          </p:nvSpPr>
          <p:spPr>
            <a:xfrm>
              <a:off x="1680699" y="734777"/>
              <a:ext cx="356013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BF504D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4"/>
            <p:cNvSpPr txBox="1"/>
            <p:nvPr/>
          </p:nvSpPr>
          <p:spPr>
            <a:xfrm>
              <a:off x="1849040" y="778564"/>
              <a:ext cx="19330" cy="3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1569" y="276218"/>
              <a:ext cx="1680929" cy="1008557"/>
            </a:xfrm>
            <a:prstGeom prst="rect">
              <a:avLst/>
            </a:prstGeom>
            <a:solidFill>
              <a:srgbClr val="BF504D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4"/>
            <p:cNvSpPr txBox="1"/>
            <p:nvPr/>
          </p:nvSpPr>
          <p:spPr>
            <a:xfrm>
              <a:off x="1569" y="276218"/>
              <a:ext cx="1680929" cy="1008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2350" tIns="86450" rIns="82350" bIns="86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en-US" sz="19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Oportunidades</a:t>
              </a:r>
              <a:endParaRPr sz="1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3748243" y="734777"/>
              <a:ext cx="356013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BE624D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4"/>
            <p:cNvSpPr txBox="1"/>
            <p:nvPr/>
          </p:nvSpPr>
          <p:spPr>
            <a:xfrm>
              <a:off x="3916584" y="778564"/>
              <a:ext cx="19330" cy="3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2069113" y="276218"/>
              <a:ext cx="1680929" cy="1008557"/>
            </a:xfrm>
            <a:prstGeom prst="rect">
              <a:avLst/>
            </a:prstGeom>
            <a:solidFill>
              <a:srgbClr val="BE604D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4"/>
            <p:cNvSpPr txBox="1"/>
            <p:nvPr/>
          </p:nvSpPr>
          <p:spPr>
            <a:xfrm>
              <a:off x="2069113" y="276218"/>
              <a:ext cx="1680929" cy="1008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2350" tIns="86450" rIns="82350" bIns="86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en-US" sz="19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Oferta de serviços inovadora</a:t>
              </a:r>
              <a:r>
                <a:rPr lang="en-US" sz="19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5815786" y="734777"/>
              <a:ext cx="356013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BD754F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4"/>
            <p:cNvSpPr txBox="1"/>
            <p:nvPr/>
          </p:nvSpPr>
          <p:spPr>
            <a:xfrm>
              <a:off x="5984128" y="778564"/>
              <a:ext cx="19330" cy="3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4"/>
            <p:cNvSpPr/>
            <p:nvPr/>
          </p:nvSpPr>
          <p:spPr>
            <a:xfrm>
              <a:off x="4136656" y="276218"/>
              <a:ext cx="1680929" cy="1008557"/>
            </a:xfrm>
            <a:prstGeom prst="rect">
              <a:avLst/>
            </a:prstGeom>
            <a:solidFill>
              <a:srgbClr val="BD714F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4"/>
            <p:cNvSpPr txBox="1"/>
            <p:nvPr/>
          </p:nvSpPr>
          <p:spPr>
            <a:xfrm>
              <a:off x="4136656" y="276218"/>
              <a:ext cx="1680929" cy="1008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2350" tIns="86450" rIns="82350" bIns="86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en-US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Aproveitar</a:t>
              </a:r>
              <a:r>
                <a:rPr lang="en-US" sz="19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ponto estratégico</a:t>
              </a:r>
              <a:r>
                <a:rPr lang="en-US" sz="19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/>
            </a:p>
          </p:txBody>
        </p:sp>
        <p:sp>
          <p:nvSpPr>
            <p:cNvPr id="193" name="Google Shape;193;p4"/>
            <p:cNvSpPr/>
            <p:nvPr/>
          </p:nvSpPr>
          <p:spPr>
            <a:xfrm>
              <a:off x="842034" y="1282976"/>
              <a:ext cx="6202631" cy="35601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5764"/>
                  </a:lnTo>
                  <a:lnTo>
                    <a:pt x="0" y="65764"/>
                  </a:lnTo>
                  <a:lnTo>
                    <a:pt x="0" y="120000"/>
                  </a:lnTo>
                </a:path>
              </a:pathLst>
            </a:custGeom>
            <a:noFill/>
            <a:ln w="9525" cap="flat" cmpd="sng">
              <a:solidFill>
                <a:srgbClr val="BC8850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4"/>
            <p:cNvSpPr txBox="1"/>
            <p:nvPr/>
          </p:nvSpPr>
          <p:spPr>
            <a:xfrm>
              <a:off x="3787983" y="1459049"/>
              <a:ext cx="310733" cy="3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4"/>
            <p:cNvSpPr/>
            <p:nvPr/>
          </p:nvSpPr>
          <p:spPr>
            <a:xfrm>
              <a:off x="6204200" y="276218"/>
              <a:ext cx="1680929" cy="1008557"/>
            </a:xfrm>
            <a:prstGeom prst="rect">
              <a:avLst/>
            </a:prstGeom>
            <a:solidFill>
              <a:srgbClr val="BC8250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4"/>
            <p:cNvSpPr txBox="1"/>
            <p:nvPr/>
          </p:nvSpPr>
          <p:spPr>
            <a:xfrm>
              <a:off x="6204200" y="276218"/>
              <a:ext cx="1680929" cy="1008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2350" tIns="86450" rIns="82350" bIns="86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en-US" sz="19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Fortalecer presença digital.</a:t>
              </a:r>
              <a:endParaRPr/>
            </a:p>
          </p:txBody>
        </p:sp>
        <p:sp>
          <p:nvSpPr>
            <p:cNvPr id="197" name="Google Shape;197;p4"/>
            <p:cNvSpPr/>
            <p:nvPr/>
          </p:nvSpPr>
          <p:spPr>
            <a:xfrm>
              <a:off x="1680699" y="2129948"/>
              <a:ext cx="356013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BB9952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4"/>
            <p:cNvSpPr txBox="1"/>
            <p:nvPr/>
          </p:nvSpPr>
          <p:spPr>
            <a:xfrm>
              <a:off x="1849040" y="2173735"/>
              <a:ext cx="19330" cy="3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4"/>
            <p:cNvSpPr/>
            <p:nvPr/>
          </p:nvSpPr>
          <p:spPr>
            <a:xfrm>
              <a:off x="1569" y="1671390"/>
              <a:ext cx="1680929" cy="1008557"/>
            </a:xfrm>
            <a:prstGeom prst="rect">
              <a:avLst/>
            </a:prstGeom>
            <a:solidFill>
              <a:srgbClr val="BB9252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4"/>
            <p:cNvSpPr txBox="1"/>
            <p:nvPr/>
          </p:nvSpPr>
          <p:spPr>
            <a:xfrm>
              <a:off x="1569" y="1671390"/>
              <a:ext cx="1680929" cy="1008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2350" tIns="86450" rIns="82350" bIns="86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en-US" sz="19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Parcerias com negócios locais.</a:t>
              </a:r>
              <a:endParaRPr/>
            </a:p>
          </p:txBody>
        </p:sp>
        <p:sp>
          <p:nvSpPr>
            <p:cNvPr id="201" name="Google Shape;201;p4"/>
            <p:cNvSpPr/>
            <p:nvPr/>
          </p:nvSpPr>
          <p:spPr>
            <a:xfrm>
              <a:off x="3748243" y="2129948"/>
              <a:ext cx="356013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BBAA54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4"/>
            <p:cNvSpPr txBox="1"/>
            <p:nvPr/>
          </p:nvSpPr>
          <p:spPr>
            <a:xfrm>
              <a:off x="3916584" y="2173735"/>
              <a:ext cx="19330" cy="3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4"/>
            <p:cNvSpPr/>
            <p:nvPr/>
          </p:nvSpPr>
          <p:spPr>
            <a:xfrm>
              <a:off x="2069113" y="1671390"/>
              <a:ext cx="1680929" cy="1008557"/>
            </a:xfrm>
            <a:prstGeom prst="rect">
              <a:avLst/>
            </a:prstGeom>
            <a:solidFill>
              <a:srgbClr val="76923C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4"/>
            <p:cNvSpPr txBox="1"/>
            <p:nvPr/>
          </p:nvSpPr>
          <p:spPr>
            <a:xfrm>
              <a:off x="2069113" y="1671390"/>
              <a:ext cx="1680929" cy="1008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2350" tIns="86450" rIns="82350" bIns="86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en-US" sz="19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Ameaças</a:t>
              </a:r>
              <a:endParaRPr sz="1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4"/>
            <p:cNvSpPr/>
            <p:nvPr/>
          </p:nvSpPr>
          <p:spPr>
            <a:xfrm>
              <a:off x="5815786" y="2129948"/>
              <a:ext cx="356013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BABA55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4"/>
            <p:cNvSpPr txBox="1"/>
            <p:nvPr/>
          </p:nvSpPr>
          <p:spPr>
            <a:xfrm>
              <a:off x="5984128" y="2173735"/>
              <a:ext cx="19330" cy="3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4"/>
            <p:cNvSpPr/>
            <p:nvPr/>
          </p:nvSpPr>
          <p:spPr>
            <a:xfrm>
              <a:off x="4136656" y="1671390"/>
              <a:ext cx="1680929" cy="1008557"/>
            </a:xfrm>
            <a:prstGeom prst="rect">
              <a:avLst/>
            </a:prstGeom>
            <a:solidFill>
              <a:srgbClr val="BBB054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4"/>
            <p:cNvSpPr txBox="1"/>
            <p:nvPr/>
          </p:nvSpPr>
          <p:spPr>
            <a:xfrm>
              <a:off x="4136656" y="1671390"/>
              <a:ext cx="1680929" cy="1008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2350" tIns="86450" rIns="82350" bIns="86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en-US" sz="19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Aumento da concorrência.</a:t>
              </a:r>
              <a:endParaRPr/>
            </a:p>
          </p:txBody>
        </p:sp>
        <p:sp>
          <p:nvSpPr>
            <p:cNvPr id="209" name="Google Shape;209;p4"/>
            <p:cNvSpPr/>
            <p:nvPr/>
          </p:nvSpPr>
          <p:spPr>
            <a:xfrm>
              <a:off x="842034" y="2678147"/>
              <a:ext cx="6202631" cy="35601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0"/>
                  </a:moveTo>
                  <a:lnTo>
                    <a:pt x="120000" y="65764"/>
                  </a:lnTo>
                  <a:lnTo>
                    <a:pt x="0" y="65764"/>
                  </a:lnTo>
                  <a:lnTo>
                    <a:pt x="0" y="120000"/>
                  </a:lnTo>
                </a:path>
              </a:pathLst>
            </a:custGeom>
            <a:noFill/>
            <a:ln w="9525" cap="flat" cmpd="sng">
              <a:solidFill>
                <a:srgbClr val="AAB957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4"/>
            <p:cNvSpPr txBox="1"/>
            <p:nvPr/>
          </p:nvSpPr>
          <p:spPr>
            <a:xfrm>
              <a:off x="3787983" y="2854221"/>
              <a:ext cx="310733" cy="3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4"/>
            <p:cNvSpPr/>
            <p:nvPr/>
          </p:nvSpPr>
          <p:spPr>
            <a:xfrm>
              <a:off x="6204200" y="1671390"/>
              <a:ext cx="1680929" cy="1008557"/>
            </a:xfrm>
            <a:prstGeom prst="rect">
              <a:avLst/>
            </a:prstGeom>
            <a:solidFill>
              <a:srgbClr val="B6BA55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4"/>
            <p:cNvSpPr txBox="1"/>
            <p:nvPr/>
          </p:nvSpPr>
          <p:spPr>
            <a:xfrm>
              <a:off x="6204200" y="1671390"/>
              <a:ext cx="1680929" cy="1008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2350" tIns="86450" rIns="82350" bIns="86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en-US" sz="19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Crises econômicas.</a:t>
              </a:r>
              <a:endParaRPr/>
            </a:p>
          </p:txBody>
        </p:sp>
        <p:sp>
          <p:nvSpPr>
            <p:cNvPr id="213" name="Google Shape;213;p4"/>
            <p:cNvSpPr/>
            <p:nvPr/>
          </p:nvSpPr>
          <p:spPr>
            <a:xfrm>
              <a:off x="1680699" y="3525120"/>
              <a:ext cx="356013" cy="9144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w="9525" cap="flat" cmpd="sng">
              <a:solidFill>
                <a:srgbClr val="99B958"/>
              </a:solidFill>
              <a:prstDash val="solid"/>
              <a:round/>
              <a:headEnd type="none" w="sm" len="sm"/>
              <a:tailEnd type="stealth" w="med" len="med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4"/>
            <p:cNvSpPr txBox="1"/>
            <p:nvPr/>
          </p:nvSpPr>
          <p:spPr>
            <a:xfrm>
              <a:off x="1849040" y="3568907"/>
              <a:ext cx="19330" cy="38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700" tIns="0" rIns="1270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alibri"/>
                <a:buNone/>
              </a:pPr>
              <a:endParaRPr sz="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4"/>
            <p:cNvSpPr/>
            <p:nvPr/>
          </p:nvSpPr>
          <p:spPr>
            <a:xfrm>
              <a:off x="1569" y="3066561"/>
              <a:ext cx="1680929" cy="1008557"/>
            </a:xfrm>
            <a:prstGeom prst="rect">
              <a:avLst/>
            </a:prstGeom>
            <a:solidFill>
              <a:srgbClr val="A8B957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4"/>
            <p:cNvSpPr txBox="1"/>
            <p:nvPr/>
          </p:nvSpPr>
          <p:spPr>
            <a:xfrm>
              <a:off x="1569" y="3066561"/>
              <a:ext cx="1680929" cy="1008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2350" tIns="86450" rIns="82350" bIns="86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en-US" sz="19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Alto </a:t>
              </a:r>
              <a:r>
                <a:rPr lang="en-US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valor </a:t>
              </a:r>
              <a:r>
                <a:rPr lang="en-US" sz="19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19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aluguel, impostos e tarifas.</a:t>
              </a:r>
              <a:endParaRPr/>
            </a:p>
          </p:txBody>
        </p:sp>
        <p:sp>
          <p:nvSpPr>
            <p:cNvPr id="217" name="Google Shape;217;p4"/>
            <p:cNvSpPr/>
            <p:nvPr/>
          </p:nvSpPr>
          <p:spPr>
            <a:xfrm>
              <a:off x="2069113" y="3066561"/>
              <a:ext cx="1680929" cy="1008557"/>
            </a:xfrm>
            <a:prstGeom prst="rect">
              <a:avLst/>
            </a:prstGeom>
            <a:solidFill>
              <a:srgbClr val="99B958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4"/>
            <p:cNvSpPr txBox="1"/>
            <p:nvPr/>
          </p:nvSpPr>
          <p:spPr>
            <a:xfrm>
              <a:off x="2069113" y="3066561"/>
              <a:ext cx="1680929" cy="10085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2350" tIns="86450" rIns="82350" bIns="8645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Calibri"/>
                <a:buNone/>
              </a:pPr>
              <a:r>
                <a:rPr lang="en-US" sz="19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Mudanças fiscais e sanitárias.</a:t>
              </a:r>
              <a:endParaRPr/>
            </a:p>
          </p:txBody>
        </p:sp>
      </p:grpSp>
      <p:sp>
        <p:nvSpPr>
          <p:cNvPr id="219" name="Google Shape;219;p4"/>
          <p:cNvSpPr/>
          <p:nvPr/>
        </p:nvSpPr>
        <p:spPr>
          <a:xfrm>
            <a:off x="628650" y="2113935"/>
            <a:ext cx="1711427" cy="983226"/>
          </a:xfrm>
          <a:prstGeom prst="frame">
            <a:avLst>
              <a:gd name="adj1" fmla="val 12500"/>
            </a:avLst>
          </a:prstGeom>
          <a:solidFill>
            <a:schemeClr val="accent2"/>
          </a:solidFill>
          <a:ln w="9525" cap="flat" cmpd="sng">
            <a:solidFill>
              <a:srgbClr val="95373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2733368" y="3539613"/>
            <a:ext cx="1632155" cy="894735"/>
          </a:xfrm>
          <a:prstGeom prst="frame">
            <a:avLst>
              <a:gd name="adj1" fmla="val 12500"/>
            </a:avLst>
          </a:prstGeom>
          <a:solidFill>
            <a:srgbClr val="76923C"/>
          </a:solidFill>
          <a:ln w="9525" cap="flat" cmpd="sng">
            <a:solidFill>
              <a:srgbClr val="4F612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 txBox="1">
            <a:spLocks noGrp="1"/>
          </p:cNvSpPr>
          <p:nvPr>
            <p:ph type="title"/>
          </p:nvPr>
        </p:nvSpPr>
        <p:spPr>
          <a:xfrm>
            <a:off x="531568" y="952932"/>
            <a:ext cx="2422877" cy="179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E00A0A"/>
              </a:buClr>
              <a:buSzPts val="3100"/>
              <a:buFont typeface="Noto Sans Georgian"/>
              <a:buNone/>
            </a:pPr>
            <a:r>
              <a:rPr lang="en-US" sz="3100" b="1">
                <a:solidFill>
                  <a:srgbClr val="E00A0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Grupo Projeto Integrador</a:t>
            </a:r>
            <a:endParaRPr sz="4300">
              <a:solidFill>
                <a:srgbClr val="E00A0A"/>
              </a:solidFill>
            </a:endParaRPr>
          </a:p>
        </p:txBody>
      </p:sp>
      <p:sp>
        <p:nvSpPr>
          <p:cNvPr id="227" name="Google Shape;227;p5"/>
          <p:cNvSpPr/>
          <p:nvPr/>
        </p:nvSpPr>
        <p:spPr>
          <a:xfrm rot="5400000">
            <a:off x="544313" y="3465005"/>
            <a:ext cx="5410200" cy="13716"/>
          </a:xfrm>
          <a:custGeom>
            <a:avLst/>
            <a:gdLst/>
            <a:ahLst/>
            <a:cxnLst/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8" name="Google Shape;228;p5"/>
          <p:cNvGrpSpPr/>
          <p:nvPr/>
        </p:nvGrpSpPr>
        <p:grpSpPr>
          <a:xfrm>
            <a:off x="3503083" y="2502397"/>
            <a:ext cx="5175384" cy="1438560"/>
            <a:chOff x="0" y="1232310"/>
            <a:chExt cx="5175384" cy="1438560"/>
          </a:xfrm>
        </p:grpSpPr>
        <p:sp>
          <p:nvSpPr>
            <p:cNvPr id="229" name="Google Shape;229;p5"/>
            <p:cNvSpPr/>
            <p:nvPr/>
          </p:nvSpPr>
          <p:spPr>
            <a:xfrm>
              <a:off x="0" y="1763670"/>
              <a:ext cx="5175384" cy="907200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w="25400" cap="flat" cmpd="sng">
              <a:solidFill>
                <a:srgbClr val="BF504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5"/>
            <p:cNvSpPr/>
            <p:nvPr/>
          </p:nvSpPr>
          <p:spPr>
            <a:xfrm>
              <a:off x="258769" y="1232310"/>
              <a:ext cx="3622768" cy="1062720"/>
            </a:xfrm>
            <a:prstGeom prst="roundRect">
              <a:avLst>
                <a:gd name="adj" fmla="val 16667"/>
              </a:avLst>
            </a:prstGeom>
            <a:solidFill>
              <a:srgbClr val="76923C"/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5"/>
            <p:cNvSpPr txBox="1"/>
            <p:nvPr/>
          </p:nvSpPr>
          <p:spPr>
            <a:xfrm>
              <a:off x="310647" y="1284188"/>
              <a:ext cx="3519012" cy="9589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6925" tIns="0" rIns="136925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600"/>
                <a:buFont typeface="Calibri"/>
                <a:buNone/>
              </a:pPr>
              <a:r>
                <a:rPr lang="en-US" sz="36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Neusa Oliveira</a:t>
              </a:r>
              <a:endParaRPr sz="36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5"/>
          <p:cNvSpPr txBox="1"/>
          <p:nvPr/>
        </p:nvSpPr>
        <p:spPr>
          <a:xfrm>
            <a:off x="482603" y="3429000"/>
            <a:ext cx="2422877" cy="1797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Georgian"/>
              <a:buNone/>
            </a:pPr>
            <a:br>
              <a:rPr lang="en-US" sz="3100" b="1" i="0" u="none" strike="noStrike" cap="non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</a:br>
            <a:endParaRPr sz="4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548638" y="2859236"/>
            <a:ext cx="2525379" cy="1533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75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C5E30"/>
              </a:buClr>
              <a:buSzPct val="100000"/>
              <a:buFont typeface="Open Sans"/>
              <a:buNone/>
            </a:pPr>
            <a:r>
              <a:rPr lang="en-US" sz="2600" b="1" i="0" u="none" strike="noStrike" cap="none">
                <a:solidFill>
                  <a:srgbClr val="2C5E30"/>
                </a:solidFill>
                <a:latin typeface="Open Sans"/>
                <a:ea typeface="Open Sans"/>
                <a:cs typeface="Open Sans"/>
                <a:sym typeface="Open Sans"/>
              </a:rPr>
              <a:t>Técnico em Contabilidade T1.25</a:t>
            </a:r>
            <a:endParaRPr sz="2600" b="0" i="0" u="none" strike="noStrike" cap="none">
              <a:solidFill>
                <a:srgbClr val="2C5E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5" descr="Logotipo&#10;&#10;O conteúdo gerado por IA pode estar incorreto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35055" y="4763351"/>
            <a:ext cx="1206116" cy="120611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5"/>
          <p:cNvSpPr txBox="1"/>
          <p:nvPr/>
        </p:nvSpPr>
        <p:spPr>
          <a:xfrm>
            <a:off x="1297340" y="5596859"/>
            <a:ext cx="127063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7F7F7F"/>
                </a:solidFill>
                <a:latin typeface="Arial Rounded"/>
                <a:ea typeface="Arial Rounded"/>
                <a:cs typeface="Arial Rounded"/>
                <a:sym typeface="Arial Rounded"/>
              </a:rPr>
              <a:t>Campinas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CC1458CC37B0444BA56125A6038E995" ma:contentTypeVersion="3" ma:contentTypeDescription="Crie um novo documento." ma:contentTypeScope="" ma:versionID="e6bb0adb1c29ddeba0a18117c6f399e4">
  <xsd:schema xmlns:xsd="http://www.w3.org/2001/XMLSchema" xmlns:xs="http://www.w3.org/2001/XMLSchema" xmlns:p="http://schemas.microsoft.com/office/2006/metadata/properties" xmlns:ns2="b7314150-17d6-4c36-bab9-49cf38293ea3" targetNamespace="http://schemas.microsoft.com/office/2006/metadata/properties" ma:root="true" ma:fieldsID="b320da244ecc769aa9541d299bf201ed" ns2:_="">
    <xsd:import namespace="b7314150-17d6-4c36-bab9-49cf38293ea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314150-17d6-4c36-bab9-49cf38293e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86CF2DB-23A1-45CA-9354-37066F56B58F}"/>
</file>

<file path=customXml/itemProps2.xml><?xml version="1.0" encoding="utf-8"?>
<ds:datastoreItem xmlns:ds="http://schemas.openxmlformats.org/officeDocument/2006/customXml" ds:itemID="{6EE24261-06A9-4F08-A433-18C995D7FBB8}"/>
</file>

<file path=customXml/itemProps3.xml><?xml version="1.0" encoding="utf-8"?>
<ds:datastoreItem xmlns:ds="http://schemas.openxmlformats.org/officeDocument/2006/customXml" ds:itemID="{AE9193DC-62AF-47D8-BD6F-CFA455F4E3A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Apresentação na tela (4:3)</PresentationFormat>
  <Paragraphs>39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Arial</vt:lpstr>
      <vt:lpstr>Open Sans</vt:lpstr>
      <vt:lpstr>Calibri</vt:lpstr>
      <vt:lpstr>Noto Sans Georgian</vt:lpstr>
      <vt:lpstr>Arial Rounded</vt:lpstr>
      <vt:lpstr>Office Theme</vt:lpstr>
      <vt:lpstr>O que é Análise S.W.O.T?</vt:lpstr>
      <vt:lpstr>Para que serve a Análise S.W.O.T?</vt:lpstr>
      <vt:lpstr>S.W.O.T Contabilidade Fênix (Interno) </vt:lpstr>
      <vt:lpstr>S.W.O.T Contabilidade Fênix (Externo)</vt:lpstr>
      <vt:lpstr>Grupo Projeto Integrador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Neusa Oliveira</dc:creator>
  <cp:lastModifiedBy>NEUSA IRMA DE OLIVEIRA</cp:lastModifiedBy>
  <cp:revision>1</cp:revision>
  <dcterms:created xsi:type="dcterms:W3CDTF">2013-01-27T09:14:16Z</dcterms:created>
  <dcterms:modified xsi:type="dcterms:W3CDTF">2026-02-18T11:33:46Z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0x0101006CC1458CC37B0444BA56125A6038E995</vt:lpwstr>
  </property>
</Properties>
</file>