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Brygada 1918" panose="020B060402020202020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/>
          <p:nvPr/>
        </p:nvSpPr>
        <p:spPr>
          <a:xfrm rot="21008899">
            <a:off x="3861646" y="2651080"/>
            <a:ext cx="1766735" cy="43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lang="en-US" sz="1800" b="1" i="0" strike="noStrike" dirty="0" err="1">
                <a:solidFill>
                  <a:srgbClr val="FFB393"/>
                </a:solidFill>
                <a:latin typeface="+mj-lt"/>
                <a:ea typeface="Brygada 1918"/>
                <a:cs typeface="Gautami" panose="020B0502040204020203" pitchFamily="34" charset="0"/>
                <a:sym typeface="Brygada 1918"/>
              </a:rPr>
              <a:t>Contabilidade</a:t>
            </a:r>
            <a:endParaRPr sz="1800" i="0" strike="noStrike" dirty="0">
              <a:latin typeface="+mj-lt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C76A2E3-1D28-17DC-A21D-C50813CA84A6}"/>
              </a:ext>
            </a:extLst>
          </p:cNvPr>
          <p:cNvSpPr/>
          <p:nvPr/>
        </p:nvSpPr>
        <p:spPr>
          <a:xfrm>
            <a:off x="2198842" y="2773025"/>
            <a:ext cx="3809056" cy="156966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pt-BR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FÊNIX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/>
        </p:nvSpPr>
        <p:spPr>
          <a:xfrm>
            <a:off x="1092160" y="3315654"/>
            <a:ext cx="6794540" cy="327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"/>
              <a:buNone/>
            </a:pP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Simplificar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a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gestão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contábil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através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de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tecnologia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,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permitindo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que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empreendedores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foquem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no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crescimento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do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negócio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com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atendimento</a:t>
            </a:r>
            <a:r>
              <a:rPr lang="en-US" sz="2400" b="0" i="0" u="none" strike="noStrike" cap="none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400" b="0" i="0" u="none" strike="noStrike" cap="none" spc="150" dirty="0" err="1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consultivo</a:t>
            </a:r>
            <a:r>
              <a:rPr lang="en-US" sz="2400" spc="150" dirty="0">
                <a:solidFill>
                  <a:srgbClr val="F4CAB8"/>
                </a:solidFill>
                <a:latin typeface="+mn-lt"/>
                <a:ea typeface="Montserrat"/>
                <a:cs typeface="Montserrat"/>
                <a:sym typeface="Montserrat"/>
              </a:rPr>
              <a:t>.</a:t>
            </a:r>
            <a:endParaRPr sz="2400" b="0" i="0" u="none" strike="noStrike" cap="none" spc="150" dirty="0">
              <a:latin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23DA30-AEE0-2ECC-0E79-0EBFA142B9F9}"/>
              </a:ext>
            </a:extLst>
          </p:cNvPr>
          <p:cNvSpPr txBox="1"/>
          <p:nvPr/>
        </p:nvSpPr>
        <p:spPr>
          <a:xfrm>
            <a:off x="994410" y="2401074"/>
            <a:ext cx="2674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rgbClr val="00B0F0"/>
                </a:solidFill>
              </a:rPr>
              <a:t>Missão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895588" y="523280"/>
            <a:ext cx="4059793" cy="50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rgbClr val="00B0F0"/>
                </a:solidFill>
                <a:sym typeface="Brygada 1918"/>
              </a:rPr>
              <a:t>Visão</a:t>
            </a:r>
            <a:endParaRPr sz="4000" b="1" dirty="0">
              <a:solidFill>
                <a:srgbClr val="00B0F0"/>
              </a:solidFill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895588" y="1411247"/>
            <a:ext cx="12839105" cy="111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"/>
              <a:buNone/>
            </a:pP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Revolucionar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a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contabilidade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tradicional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,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sendo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líder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nacional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em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contabilidade</a:t>
            </a:r>
            <a:r>
              <a:rPr lang="en-US" sz="2400" spc="150" dirty="0">
                <a:solidFill>
                  <a:srgbClr val="F4CAB8"/>
                </a:solidFill>
                <a:latin typeface="+mn-lt"/>
                <a:sym typeface="Montserrat"/>
              </a:rPr>
              <a:t> digital </a:t>
            </a:r>
            <a:r>
              <a:rPr lang="en-US" sz="2400" spc="150" dirty="0" err="1">
                <a:solidFill>
                  <a:srgbClr val="F4CAB8"/>
                </a:solidFill>
                <a:latin typeface="+mn-lt"/>
                <a:sym typeface="Montserrat"/>
              </a:rPr>
              <a:t>humanizada</a:t>
            </a:r>
            <a:r>
              <a:rPr lang="en-US" sz="24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400" b="0" i="0" u="none" strike="noStrike" cap="none" dirty="0"/>
          </a:p>
        </p:txBody>
      </p:sp>
      <p:pic>
        <p:nvPicPr>
          <p:cNvPr id="53" name="Google Shape;5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283" y="2898737"/>
            <a:ext cx="9541228" cy="39257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/>
          <p:nvPr/>
        </p:nvSpPr>
        <p:spPr>
          <a:xfrm>
            <a:off x="3807009" y="2833923"/>
            <a:ext cx="2246809" cy="74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Brygada 1918"/>
              <a:buNone/>
            </a:pP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Contabilidade</a:t>
            </a:r>
            <a:r>
              <a:rPr lang="en-US" sz="1600" b="1" i="0" u="none" strike="noStrike" cap="none" dirty="0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 </a:t>
            </a: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Tradicional</a:t>
            </a:r>
            <a:endParaRPr sz="1600" b="0" i="0" u="none" strike="noStrike" cap="none" dirty="0"/>
          </a:p>
        </p:txBody>
      </p:sp>
      <p:sp>
        <p:nvSpPr>
          <p:cNvPr id="55" name="Google Shape;55;p10"/>
          <p:cNvSpPr/>
          <p:nvPr/>
        </p:nvSpPr>
        <p:spPr>
          <a:xfrm>
            <a:off x="3831976" y="3465840"/>
            <a:ext cx="2246809" cy="55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050"/>
              <a:buFont typeface="Montserrat"/>
              <a:buNone/>
            </a:pP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Processos</a:t>
            </a: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manuais</a:t>
            </a: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papéis</a:t>
            </a:r>
            <a:endParaRPr sz="1200" b="0" i="0" u="none" strike="noStrike" cap="none" dirty="0"/>
          </a:p>
        </p:txBody>
      </p:sp>
      <p:sp>
        <p:nvSpPr>
          <p:cNvPr id="57" name="Google Shape;57;p10"/>
          <p:cNvSpPr/>
          <p:nvPr/>
        </p:nvSpPr>
        <p:spPr>
          <a:xfrm>
            <a:off x="5064087" y="6093031"/>
            <a:ext cx="2259154" cy="37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Brygada 1918"/>
              <a:buNone/>
            </a:pP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Digitalização</a:t>
            </a:r>
            <a:endParaRPr sz="1600" b="0" i="0" u="none" strike="noStrike" cap="none" dirty="0"/>
          </a:p>
        </p:txBody>
      </p:sp>
      <p:sp>
        <p:nvSpPr>
          <p:cNvPr id="58" name="Google Shape;58;p10"/>
          <p:cNvSpPr/>
          <p:nvPr/>
        </p:nvSpPr>
        <p:spPr>
          <a:xfrm>
            <a:off x="5064087" y="6491164"/>
            <a:ext cx="2259154" cy="55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050"/>
              <a:buFont typeface="Montserrat"/>
              <a:buNone/>
            </a:pP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Sistemas e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automação</a:t>
            </a: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básica</a:t>
            </a:r>
            <a:endParaRPr sz="1200" b="0" i="0" u="none" strike="noStrike" cap="none" dirty="0"/>
          </a:p>
        </p:txBody>
      </p:sp>
      <p:sp>
        <p:nvSpPr>
          <p:cNvPr id="60" name="Google Shape;60;p10"/>
          <p:cNvSpPr/>
          <p:nvPr/>
        </p:nvSpPr>
        <p:spPr>
          <a:xfrm>
            <a:off x="7134871" y="3063081"/>
            <a:ext cx="2246809" cy="37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Brygada 1918"/>
              <a:buNone/>
            </a:pP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Inovação</a:t>
            </a:r>
            <a:endParaRPr sz="1600" b="0" i="0" u="none" strike="noStrike" cap="none" dirty="0"/>
          </a:p>
        </p:txBody>
      </p:sp>
      <p:sp>
        <p:nvSpPr>
          <p:cNvPr id="61" name="Google Shape;61;p10"/>
          <p:cNvSpPr/>
          <p:nvPr/>
        </p:nvSpPr>
        <p:spPr>
          <a:xfrm>
            <a:off x="7134871" y="3465840"/>
            <a:ext cx="2246809" cy="55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050"/>
              <a:buFont typeface="Montserrat"/>
              <a:buNone/>
            </a:pP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Analytics e IA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integrada</a:t>
            </a:r>
            <a:endParaRPr sz="1200" b="0" i="0" u="none" strike="noStrike" cap="none" dirty="0"/>
          </a:p>
        </p:txBody>
      </p:sp>
      <p:sp>
        <p:nvSpPr>
          <p:cNvPr id="63" name="Google Shape;63;p10"/>
          <p:cNvSpPr/>
          <p:nvPr/>
        </p:nvSpPr>
        <p:spPr>
          <a:xfrm>
            <a:off x="8668088" y="6110777"/>
            <a:ext cx="2246809" cy="740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00"/>
              <a:buFont typeface="Brygada 1918"/>
              <a:buNone/>
            </a:pP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Contabilidade</a:t>
            </a:r>
            <a:r>
              <a:rPr lang="en-US" sz="1600" b="1" i="0" u="none" strike="noStrike" cap="none" dirty="0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 </a:t>
            </a:r>
            <a:r>
              <a:rPr lang="en-US" sz="1600" b="1" i="0" u="none" strike="noStrike" cap="none" dirty="0" err="1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Humanizada</a:t>
            </a:r>
            <a:endParaRPr sz="1600" b="0" i="0" u="none" strike="noStrike" cap="none" dirty="0"/>
          </a:p>
        </p:txBody>
      </p:sp>
      <p:sp>
        <p:nvSpPr>
          <p:cNvPr id="64" name="Google Shape;64;p10"/>
          <p:cNvSpPr/>
          <p:nvPr/>
        </p:nvSpPr>
        <p:spPr>
          <a:xfrm>
            <a:off x="8723640" y="6768929"/>
            <a:ext cx="2246809" cy="555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050"/>
              <a:buFont typeface="Montserrat"/>
              <a:buNone/>
            </a:pP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Liderança</a:t>
            </a: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centrada</a:t>
            </a:r>
            <a:r>
              <a:rPr lang="en-US" sz="1200" b="0" i="0" u="none" strike="noStrike" cap="none" dirty="0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1200" b="0" i="0" u="none" strike="noStrike" cap="none" dirty="0" err="1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  <a:endParaRPr sz="1200" b="0" i="0" u="none" strike="noStrike" cap="none" dirty="0"/>
          </a:p>
        </p:txBody>
      </p:sp>
      <p:sp>
        <p:nvSpPr>
          <p:cNvPr id="2" name="Retângulo: Único Canto Arredondado 1">
            <a:extLst>
              <a:ext uri="{FF2B5EF4-FFF2-40B4-BE49-F238E27FC236}">
                <a16:creationId xmlns:a16="http://schemas.microsoft.com/office/drawing/2014/main" id="{F4CC1C78-1E1C-6F9B-F7D1-824C0F204902}"/>
              </a:ext>
            </a:extLst>
          </p:cNvPr>
          <p:cNvSpPr/>
          <p:nvPr/>
        </p:nvSpPr>
        <p:spPr>
          <a:xfrm>
            <a:off x="0" y="7700981"/>
            <a:ext cx="14630400" cy="528619"/>
          </a:xfrm>
          <a:prstGeom prst="round1Rect">
            <a:avLst/>
          </a:prstGeom>
          <a:solidFill>
            <a:srgbClr val="5C24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719376" y="566738"/>
            <a:ext cx="4384834" cy="54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450"/>
              <a:buFont typeface="Brygada 1918"/>
              <a:buNone/>
            </a:pPr>
            <a:r>
              <a:rPr lang="en-US" sz="4000" b="1" i="0" u="none" strike="noStrike" cap="none" dirty="0">
                <a:solidFill>
                  <a:srgbClr val="00B0F0"/>
                </a:solidFill>
                <a:latin typeface="+mn-lt"/>
                <a:ea typeface="Brygada 1918"/>
                <a:cs typeface="Brygada 1918"/>
                <a:sym typeface="Brygada 1918"/>
              </a:rPr>
              <a:t>Valores</a:t>
            </a:r>
            <a:endParaRPr sz="4000" b="0" i="0" u="none" strike="noStrike" cap="none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7303770" y="1525786"/>
            <a:ext cx="22860" cy="6136957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6927056" y="1745575"/>
            <a:ext cx="411004" cy="22860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7238167" y="1679972"/>
            <a:ext cx="154067" cy="154067"/>
          </a:xfrm>
          <a:prstGeom prst="roundRect">
            <a:avLst>
              <a:gd name="adj" fmla="val 296754"/>
            </a:avLst>
          </a:prstGeom>
          <a:solidFill>
            <a:srgbClr val="FFB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2403039" y="1508700"/>
            <a:ext cx="4384833" cy="34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50"/>
              <a:buFont typeface="Brygada 1918"/>
              <a:buNone/>
            </a:pPr>
            <a:r>
              <a:rPr lang="en-US" sz="2400" b="1" i="0" u="none" strike="noStrike" cap="none" dirty="0" err="1">
                <a:solidFill>
                  <a:srgbClr val="F4CAB8"/>
                </a:solidFill>
                <a:latin typeface="+mj-lt"/>
                <a:ea typeface="Brygada 1918"/>
                <a:cs typeface="Brygada 1918"/>
                <a:sym typeface="Brygada 1918"/>
              </a:rPr>
              <a:t>Humanização</a:t>
            </a:r>
            <a:r>
              <a:rPr lang="en-US" sz="2400" b="1" i="0" u="none" strike="noStrike" cap="none" dirty="0">
                <a:solidFill>
                  <a:srgbClr val="F4CAB8"/>
                </a:solidFill>
                <a:latin typeface="+mj-lt"/>
                <a:ea typeface="Brygada 1918"/>
                <a:cs typeface="Brygada 1918"/>
                <a:sym typeface="Brygada 1918"/>
              </a:rPr>
              <a:t> no </a:t>
            </a:r>
            <a:r>
              <a:rPr lang="en-US" sz="2400" b="1" i="0" u="none" strike="noStrike" cap="none" dirty="0" err="1">
                <a:solidFill>
                  <a:srgbClr val="F4CAB8"/>
                </a:solidFill>
                <a:latin typeface="+mj-lt"/>
                <a:ea typeface="Brygada 1918"/>
                <a:cs typeface="Brygada 1918"/>
                <a:sym typeface="Brygada 1918"/>
              </a:rPr>
              <a:t>atendimento</a:t>
            </a:r>
            <a:endParaRPr sz="2400" b="0" i="0" u="none" strike="noStrike" cap="none" dirty="0">
              <a:latin typeface="+mj-lt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7292340" y="2978706"/>
            <a:ext cx="411004" cy="22860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238167" y="2913102"/>
            <a:ext cx="154067" cy="154067"/>
          </a:xfrm>
          <a:prstGeom prst="roundRect">
            <a:avLst>
              <a:gd name="adj" fmla="val 296754"/>
            </a:avLst>
          </a:prstGeom>
          <a:solidFill>
            <a:srgbClr val="FFB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7908132" y="2741830"/>
            <a:ext cx="2740462" cy="34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50"/>
              <a:buFont typeface="Brygada 1918"/>
              <a:buNone/>
            </a:pPr>
            <a:r>
              <a:rPr lang="en-US" sz="2400" b="1" i="0" u="none" strike="noStrike" cap="none" dirty="0" err="1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Inovação</a:t>
            </a:r>
            <a:endParaRPr sz="2400" b="0" i="0" u="none" strike="noStrike" cap="none" dirty="0">
              <a:latin typeface="+mn-lt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6927056" y="4041577"/>
            <a:ext cx="411004" cy="22860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7238167" y="3975973"/>
            <a:ext cx="154067" cy="154067"/>
          </a:xfrm>
          <a:prstGeom prst="roundRect">
            <a:avLst>
              <a:gd name="adj" fmla="val 296754"/>
            </a:avLst>
          </a:prstGeom>
          <a:solidFill>
            <a:srgbClr val="FFB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4031039" y="3804701"/>
            <a:ext cx="2740462" cy="34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50"/>
              <a:buFont typeface="Brygada 1918"/>
              <a:buNone/>
            </a:pPr>
            <a:r>
              <a:rPr lang="en-US" sz="2400" b="1" i="0" u="none" strike="noStrike" cap="none" dirty="0" err="1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Simplicidade</a:t>
            </a:r>
            <a:endParaRPr sz="2400" b="0" i="0" u="none" strike="noStrike" cap="none" dirty="0">
              <a:latin typeface="+mn-lt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7292340" y="5104567"/>
            <a:ext cx="411004" cy="22860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7238167" y="5038963"/>
            <a:ext cx="154067" cy="154067"/>
          </a:xfrm>
          <a:prstGeom prst="roundRect">
            <a:avLst>
              <a:gd name="adj" fmla="val 296754"/>
            </a:avLst>
          </a:prstGeom>
          <a:solidFill>
            <a:srgbClr val="FFB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7924503" y="4837459"/>
            <a:ext cx="2740462" cy="34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50"/>
              <a:buFont typeface="Brygada 1918"/>
              <a:buNone/>
            </a:pPr>
            <a:r>
              <a:rPr lang="en-US" sz="2400" b="1" i="0" u="none" strike="noStrike" cap="none" dirty="0" err="1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Agilidade</a:t>
            </a:r>
            <a:endParaRPr sz="2400" b="0" i="0" u="none" strike="noStrike" cap="none" dirty="0">
              <a:latin typeface="+mn-lt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6927056" y="6167557"/>
            <a:ext cx="411004" cy="22860"/>
          </a:xfrm>
          <a:prstGeom prst="roundRect">
            <a:avLst>
              <a:gd name="adj" fmla="val 134868"/>
            </a:avLst>
          </a:prstGeom>
          <a:solidFill>
            <a:srgbClr val="662E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1"/>
          <p:cNvSpPr/>
          <p:nvPr/>
        </p:nvSpPr>
        <p:spPr>
          <a:xfrm>
            <a:off x="7238167" y="6101953"/>
            <a:ext cx="154067" cy="154067"/>
          </a:xfrm>
          <a:prstGeom prst="roundRect">
            <a:avLst>
              <a:gd name="adj" fmla="val 296754"/>
            </a:avLst>
          </a:prstGeom>
          <a:solidFill>
            <a:srgbClr val="FFB3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4186594" y="5900390"/>
            <a:ext cx="2740462" cy="34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50"/>
              <a:buFont typeface="Brygada 1918"/>
              <a:buNone/>
            </a:pPr>
            <a:r>
              <a:rPr lang="en-US" sz="2400" b="1" i="0" u="none" strike="noStrike" cap="none" dirty="0" err="1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Excelência</a:t>
            </a:r>
            <a:r>
              <a:rPr lang="en-US" sz="2400" b="1" i="0" u="none" strike="noStrike" cap="none" dirty="0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 </a:t>
            </a:r>
            <a:r>
              <a:rPr lang="en-US" sz="2400" b="1" i="0" u="none" strike="noStrike" cap="none" dirty="0" err="1">
                <a:solidFill>
                  <a:srgbClr val="F4CAB8"/>
                </a:solidFill>
                <a:latin typeface="+mn-lt"/>
                <a:ea typeface="Brygada 1918"/>
                <a:cs typeface="Brygada 1918"/>
                <a:sym typeface="Brygada 1918"/>
              </a:rPr>
              <a:t>técnica</a:t>
            </a:r>
            <a:endParaRPr sz="2400" b="0" i="0" u="none" strike="noStrike" cap="none" dirty="0">
              <a:latin typeface="+mn-lt"/>
            </a:endParaRPr>
          </a:p>
        </p:txBody>
      </p:sp>
      <p:sp>
        <p:nvSpPr>
          <p:cNvPr id="2" name="Retângulo: Único Canto Arredondado 1">
            <a:extLst>
              <a:ext uri="{FF2B5EF4-FFF2-40B4-BE49-F238E27FC236}">
                <a16:creationId xmlns:a16="http://schemas.microsoft.com/office/drawing/2014/main" id="{7ECD9663-CB0F-CC22-1B26-F675A4E1A63F}"/>
              </a:ext>
            </a:extLst>
          </p:cNvPr>
          <p:cNvSpPr/>
          <p:nvPr/>
        </p:nvSpPr>
        <p:spPr>
          <a:xfrm>
            <a:off x="0" y="7700981"/>
            <a:ext cx="14630400" cy="528619"/>
          </a:xfrm>
          <a:prstGeom prst="round1Rect">
            <a:avLst/>
          </a:prstGeom>
          <a:solidFill>
            <a:srgbClr val="5C24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2" title="senac.png"/>
          <p:cNvPicPr preferRelativeResize="0"/>
          <p:nvPr/>
        </p:nvPicPr>
        <p:blipFill rotWithShape="1">
          <a:blip r:embed="rId3">
            <a:alphaModFix/>
          </a:blip>
          <a:srcRect t="22222" b="22222"/>
          <a:stretch/>
        </p:blipFill>
        <p:spPr>
          <a:xfrm>
            <a:off x="1116500" y="843925"/>
            <a:ext cx="1978925" cy="112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/>
          <p:nvPr/>
        </p:nvSpPr>
        <p:spPr>
          <a:xfrm>
            <a:off x="4128000" y="3063150"/>
            <a:ext cx="67002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lang="en-US" sz="5250" b="1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Projeto Integrador</a:t>
            </a:r>
            <a:endParaRPr sz="5250"/>
          </a:p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endParaRPr sz="3950" b="0" i="0" u="none" strike="noStrike" cap="none"/>
          </a:p>
        </p:txBody>
      </p:sp>
      <p:sp>
        <p:nvSpPr>
          <p:cNvPr id="95" name="Google Shape;95;p12"/>
          <p:cNvSpPr/>
          <p:nvPr/>
        </p:nvSpPr>
        <p:spPr>
          <a:xfrm>
            <a:off x="4523400" y="4568929"/>
            <a:ext cx="63048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49530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050"/>
              <a:buFont typeface="Montserrat"/>
              <a:buChar char="•"/>
            </a:pPr>
            <a:r>
              <a:rPr lang="en-US" sz="4050" b="1" i="0" u="none" strike="noStrike" cap="none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Neusa Oliveira</a:t>
            </a:r>
            <a:endParaRPr sz="4050" b="1" i="0" u="none" strike="noStrike" cap="none">
              <a:solidFill>
                <a:srgbClr val="EFEFEF"/>
              </a:solidFill>
            </a:endParaRPr>
          </a:p>
        </p:txBody>
      </p:sp>
      <p:sp>
        <p:nvSpPr>
          <p:cNvPr id="96" name="Google Shape;96;p12"/>
          <p:cNvSpPr/>
          <p:nvPr/>
        </p:nvSpPr>
        <p:spPr>
          <a:xfrm>
            <a:off x="4523400" y="5282317"/>
            <a:ext cx="63048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4050"/>
            </a:pPr>
            <a:endParaRPr sz="4050" b="1" i="0" u="none" strike="noStrike" cap="none" dirty="0">
              <a:solidFill>
                <a:srgbClr val="EFEFEF"/>
              </a:solidFill>
            </a:endParaRPr>
          </a:p>
        </p:txBody>
      </p:sp>
      <p:sp>
        <p:nvSpPr>
          <p:cNvPr id="97" name="Google Shape;97;p12"/>
          <p:cNvSpPr/>
          <p:nvPr/>
        </p:nvSpPr>
        <p:spPr>
          <a:xfrm>
            <a:off x="1329249" y="1968981"/>
            <a:ext cx="57093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lang="en-US" sz="2450" b="1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 Campinas</a:t>
            </a:r>
            <a:br>
              <a:rPr lang="en-US" sz="4450" b="1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</a:br>
            <a:endParaRPr sz="4450" b="0" i="0" u="none" strike="noStrike" cap="none"/>
          </a:p>
        </p:txBody>
      </p:sp>
      <p:sp>
        <p:nvSpPr>
          <p:cNvPr id="98" name="Google Shape;98;p12"/>
          <p:cNvSpPr/>
          <p:nvPr/>
        </p:nvSpPr>
        <p:spPr>
          <a:xfrm>
            <a:off x="1626999" y="2378524"/>
            <a:ext cx="1468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lang="en-US" sz="2450" b="1" dirty="0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T1.25</a:t>
            </a:r>
            <a:br>
              <a:rPr lang="en-US" sz="4450" b="1" dirty="0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</a:br>
            <a:endParaRPr sz="4450" dirty="0"/>
          </a:p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br>
              <a:rPr lang="en-US" sz="4450" b="1" dirty="0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</a:br>
            <a:endParaRPr sz="4450" b="0" i="0" u="none" strike="noStrike" cap="none" dirty="0"/>
          </a:p>
        </p:txBody>
      </p:sp>
      <p:sp>
        <p:nvSpPr>
          <p:cNvPr id="99" name="Google Shape;99;p12"/>
          <p:cNvSpPr/>
          <p:nvPr/>
        </p:nvSpPr>
        <p:spPr>
          <a:xfrm>
            <a:off x="3266700" y="1405425"/>
            <a:ext cx="75615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lang="en-US" sz="3850" b="1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Técnico em Contabilidade</a:t>
            </a:r>
            <a:endParaRPr sz="3850"/>
          </a:p>
          <a:p>
            <a:pPr marL="0" marR="0" lvl="0" indent="0" algn="l" rtl="0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endParaRPr sz="3950" b="0" i="0" u="none" strike="noStrike" cap="none"/>
          </a:p>
        </p:txBody>
      </p:sp>
      <p:sp>
        <p:nvSpPr>
          <p:cNvPr id="2" name="Retângulo: Único Canto Arredondado 1">
            <a:extLst>
              <a:ext uri="{FF2B5EF4-FFF2-40B4-BE49-F238E27FC236}">
                <a16:creationId xmlns:a16="http://schemas.microsoft.com/office/drawing/2014/main" id="{AAAEE7BC-38FE-E09A-0E2A-ECAE284379B9}"/>
              </a:ext>
            </a:extLst>
          </p:cNvPr>
          <p:cNvSpPr/>
          <p:nvPr/>
        </p:nvSpPr>
        <p:spPr>
          <a:xfrm>
            <a:off x="0" y="7700981"/>
            <a:ext cx="14630400" cy="528619"/>
          </a:xfrm>
          <a:prstGeom prst="round1Rect">
            <a:avLst/>
          </a:prstGeom>
          <a:solidFill>
            <a:srgbClr val="5C24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C1458CC37B0444BA56125A6038E995" ma:contentTypeVersion="3" ma:contentTypeDescription="Crie um novo documento." ma:contentTypeScope="" ma:versionID="e6bb0adb1c29ddeba0a18117c6f399e4">
  <xsd:schema xmlns:xsd="http://www.w3.org/2001/XMLSchema" xmlns:xs="http://www.w3.org/2001/XMLSchema" xmlns:p="http://schemas.microsoft.com/office/2006/metadata/properties" xmlns:ns2="b7314150-17d6-4c36-bab9-49cf38293ea3" targetNamespace="http://schemas.microsoft.com/office/2006/metadata/properties" ma:root="true" ma:fieldsID="b320da244ecc769aa9541d299bf201ed" ns2:_="">
    <xsd:import namespace="b7314150-17d6-4c36-bab9-49cf38293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4150-17d6-4c36-bab9-49cf38293e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2A63D3-C18A-44E0-9363-B1A5E191C871}"/>
</file>

<file path=customXml/itemProps2.xml><?xml version="1.0" encoding="utf-8"?>
<ds:datastoreItem xmlns:ds="http://schemas.openxmlformats.org/officeDocument/2006/customXml" ds:itemID="{C219EDAC-3FB4-4DA7-B446-C87D4BE6C354}"/>
</file>

<file path=customXml/itemProps3.xml><?xml version="1.0" encoding="utf-8"?>
<ds:datastoreItem xmlns:ds="http://schemas.openxmlformats.org/officeDocument/2006/customXml" ds:itemID="{F2CE6F24-5842-46F3-85CB-5A5AA40427AA}"/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86</Words>
  <Application>Microsoft Office PowerPoint</Application>
  <PresentationFormat>Personalizar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Brygada 1918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NEUSA IRMA DE OLIVEIRA</cp:lastModifiedBy>
  <cp:revision>2</cp:revision>
  <dcterms:modified xsi:type="dcterms:W3CDTF">2026-02-04T14:47:30Z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0x0101006CC1458CC37B0444BA56125A6038E995</vt:lpwstr>
  </property>
</Properties>
</file>