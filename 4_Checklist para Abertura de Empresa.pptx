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9" r:id="rId9"/>
    <p:sldId id="261" r:id="rId10"/>
    <p:sldId id="270" r:id="rId11"/>
    <p:sldId id="262" r:id="rId12"/>
    <p:sldId id="264" r:id="rId13"/>
    <p:sldId id="263" r:id="rId14"/>
    <p:sldId id="271" r:id="rId15"/>
    <p:sldId id="265" r:id="rId16"/>
    <p:sldId id="272" r:id="rId17"/>
    <p:sldId id="273" r:id="rId18"/>
    <p:sldId id="274" r:id="rId19"/>
    <p:sldId id="275" r:id="rId20"/>
    <p:sldId id="266" r:id="rId21"/>
  </p:sldIdLst>
  <p:sldSz cx="14630400" cy="8229600"/>
  <p:notesSz cx="8229600" cy="14630400"/>
  <p:embeddedFontLst>
    <p:embeddedFont>
      <p:font typeface="Comfortaa" panose="020B0604020202020204" charset="0"/>
      <p:regular r:id="rId23"/>
      <p:bold r:id="rId24"/>
    </p:embeddedFont>
    <p:embeddedFont>
      <p:font typeface="Outfit" panose="020B0604020202020204" charset="0"/>
      <p:regular r:id="rId25"/>
      <p:bold r:id="rId26"/>
    </p:embeddedFont>
    <p:embeddedFont>
      <p:font typeface="Outfit SemiBol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a68574b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a68574ba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6a68574ba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04FB94A-ED5D-9FDA-0CAE-90C0A4FB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10CD22A9-95A1-C5A8-783B-2AE393F00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6384A08F-0A91-A81E-0572-ACB5E33FF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575CA7BE-B49F-BB5C-B023-A2C0F96785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3181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90C9DC8-2BA6-D017-4C5E-FB7BC59D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EA055AE3-215C-FD1A-B039-088807599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E9A8F206-8465-ADF1-AD3D-20E98842A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E07C7AB6-3A10-7E33-C830-96F4A1131F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3420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A340EE6-BB73-AFE2-F98C-4F39E840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EDE5CD77-3FDB-CFB7-8F49-4492B6B9C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668B8A1E-7FC4-A361-F6F6-A72626C3E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EE0D8F9F-8A57-BA95-6D34-DE8B2664E9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744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A1E4BE1-7791-1531-4C05-8CDF28B2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437E880E-BB4C-8B59-0EB1-A722C8860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ABE2C610-29FF-2E84-3250-25D45806B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4F2AA1FC-110E-7B5D-E934-BC2EDEC991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427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381667D-EF2A-46CC-2D76-61A78A17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>
            <a:extLst>
              <a:ext uri="{FF2B5EF4-FFF2-40B4-BE49-F238E27FC236}">
                <a16:creationId xmlns:a16="http://schemas.microsoft.com/office/drawing/2014/main" id="{E716CB42-7AA1-C851-1D2F-85EA9A2C4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>
            <a:extLst>
              <a:ext uri="{FF2B5EF4-FFF2-40B4-BE49-F238E27FC236}">
                <a16:creationId xmlns:a16="http://schemas.microsoft.com/office/drawing/2014/main" id="{CD8D4D06-EF3E-B7DE-2D5A-4691580B7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>
            <a:extLst>
              <a:ext uri="{FF2B5EF4-FFF2-40B4-BE49-F238E27FC236}">
                <a16:creationId xmlns:a16="http://schemas.microsoft.com/office/drawing/2014/main" id="{7943C85E-3472-BC04-CC28-096D06D0E4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9873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1BB8242C-51A9-4D10-6F74-ED44DE66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>
            <a:extLst>
              <a:ext uri="{FF2B5EF4-FFF2-40B4-BE49-F238E27FC236}">
                <a16:creationId xmlns:a16="http://schemas.microsoft.com/office/drawing/2014/main" id="{AED6376C-EF3E-6567-FD57-67552AEB9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>
            <a:extLst>
              <a:ext uri="{FF2B5EF4-FFF2-40B4-BE49-F238E27FC236}">
                <a16:creationId xmlns:a16="http://schemas.microsoft.com/office/drawing/2014/main" id="{10EB31F8-1D74-E73D-056B-D386A4A1B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>
            <a:extLst>
              <a:ext uri="{FF2B5EF4-FFF2-40B4-BE49-F238E27FC236}">
                <a16:creationId xmlns:a16="http://schemas.microsoft.com/office/drawing/2014/main" id="{DE27F3F6-3DC5-780B-799A-4CFD5C1EB7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416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021F92A-06F6-CC51-18A7-985A3613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>
            <a:extLst>
              <a:ext uri="{FF2B5EF4-FFF2-40B4-BE49-F238E27FC236}">
                <a16:creationId xmlns:a16="http://schemas.microsoft.com/office/drawing/2014/main" id="{907AE7EA-696A-C3E6-0913-6C4F52B03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>
            <a:extLst>
              <a:ext uri="{FF2B5EF4-FFF2-40B4-BE49-F238E27FC236}">
                <a16:creationId xmlns:a16="http://schemas.microsoft.com/office/drawing/2014/main" id="{879238D2-E4B0-E21D-3AC1-535209EE1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>
            <a:extLst>
              <a:ext uri="{FF2B5EF4-FFF2-40B4-BE49-F238E27FC236}">
                <a16:creationId xmlns:a16="http://schemas.microsoft.com/office/drawing/2014/main" id="{4EBA3876-DB6B-E51C-84C2-E401EEEC2B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9253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F13EAB5A-7F00-5768-874C-48755FB7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>
            <a:extLst>
              <a:ext uri="{FF2B5EF4-FFF2-40B4-BE49-F238E27FC236}">
                <a16:creationId xmlns:a16="http://schemas.microsoft.com/office/drawing/2014/main" id="{6A159282-53F5-386E-09D8-D825A8D7B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>
            <a:extLst>
              <a:ext uri="{FF2B5EF4-FFF2-40B4-BE49-F238E27FC236}">
                <a16:creationId xmlns:a16="http://schemas.microsoft.com/office/drawing/2014/main" id="{D4D9EF08-1AAA-F050-1089-181C949B7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>
            <a:extLst>
              <a:ext uri="{FF2B5EF4-FFF2-40B4-BE49-F238E27FC236}">
                <a16:creationId xmlns:a16="http://schemas.microsoft.com/office/drawing/2014/main" id="{582AE54F-8BE0-30CF-49EA-08E918961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881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DFAC93D1-BCD6-8358-B414-855C3B85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>
            <a:extLst>
              <a:ext uri="{FF2B5EF4-FFF2-40B4-BE49-F238E27FC236}">
                <a16:creationId xmlns:a16="http://schemas.microsoft.com/office/drawing/2014/main" id="{233601B8-851C-A015-9B81-CACE22FA3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>
            <a:extLst>
              <a:ext uri="{FF2B5EF4-FFF2-40B4-BE49-F238E27FC236}">
                <a16:creationId xmlns:a16="http://schemas.microsoft.com/office/drawing/2014/main" id="{52F0EF35-A110-1BA8-8E4F-28B720BED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>
            <a:extLst>
              <a:ext uri="{FF2B5EF4-FFF2-40B4-BE49-F238E27FC236}">
                <a16:creationId xmlns:a16="http://schemas.microsoft.com/office/drawing/2014/main" id="{0FA64781-1624-3325-2AC9-146154553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9795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a68574ba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a68574baf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6a68574baf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 descr="Close-up of a pen beside a calculator (Fornecido por Getty Images)"/>
          <p:cNvPicPr preferRelativeResize="0"/>
          <p:nvPr/>
        </p:nvPicPr>
        <p:blipFill rotWithShape="1">
          <a:blip r:embed="rId3">
            <a:alphaModFix/>
          </a:blip>
          <a:srcRect t="2498" b="2498"/>
          <a:stretch/>
        </p:blipFill>
        <p:spPr>
          <a:xfrm>
            <a:off x="0" y="0"/>
            <a:ext cx="5760722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/>
          <p:nvPr/>
        </p:nvSpPr>
        <p:spPr>
          <a:xfrm>
            <a:off x="6317550" y="2689176"/>
            <a:ext cx="75564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900"/>
              <a:buFont typeface="Outfit"/>
              <a:buNone/>
            </a:pPr>
            <a:r>
              <a:rPr lang="en-US" sz="540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Checklist  para </a:t>
            </a:r>
            <a:r>
              <a:rPr lang="en-US" sz="5400" b="1" i="0" u="none" strike="noStrike" cap="none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Abertura</a:t>
            </a:r>
            <a:r>
              <a:rPr lang="en-US" sz="540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de Empresa</a:t>
            </a:r>
            <a:endParaRPr sz="5400" b="0" i="0" u="none" strike="noStrike" cap="none" dirty="0"/>
          </a:p>
        </p:txBody>
      </p:sp>
      <p:sp>
        <p:nvSpPr>
          <p:cNvPr id="54" name="Google Shape;54;p12"/>
          <p:cNvSpPr/>
          <p:nvPr/>
        </p:nvSpPr>
        <p:spPr>
          <a:xfrm>
            <a:off x="6317550" y="4707051"/>
            <a:ext cx="75564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900"/>
              <a:buFont typeface="Outfit"/>
              <a:buNone/>
            </a:pPr>
            <a:r>
              <a:rPr lang="en-US" sz="3500" b="1">
                <a:solidFill>
                  <a:srgbClr val="E1E5CD"/>
                </a:solidFill>
                <a:latin typeface="Comfortaa"/>
                <a:ea typeface="Comfortaa"/>
                <a:cs typeface="Comfortaa"/>
                <a:sym typeface="Comfortaa"/>
              </a:rPr>
              <a:t>[ Fênix Contabilidade ]</a:t>
            </a:r>
            <a:endParaRPr sz="3500" i="0" u="none" strike="noStrike" cap="none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E44BD6-ED8F-C53D-62C0-D30737783B32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793800" y="913423"/>
            <a:ext cx="75564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☐ 1. Planejamento inicial</a:t>
            </a:r>
          </a:p>
        </p:txBody>
      </p:sp>
      <p:sp>
        <p:nvSpPr>
          <p:cNvPr id="62" name="Google Shape;62;p13"/>
          <p:cNvSpPr/>
          <p:nvPr/>
        </p:nvSpPr>
        <p:spPr>
          <a:xfrm>
            <a:off x="793800" y="2378154"/>
            <a:ext cx="226108" cy="385226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364942" y="2853333"/>
            <a:ext cx="7159704" cy="385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Definir natureza jurídica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Escolher CNAE de serviços contábeis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Definir sócios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Indicar responsável técnico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Definir capital social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Definir endereço comercial</a:t>
            </a:r>
            <a:endParaRPr lang="pt-BR" sz="28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995646" y="791463"/>
            <a:ext cx="8925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300"/>
              <a:buFont typeface="Outfit"/>
              <a:buNone/>
            </a:pP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O 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Que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 é  CNAE?</a:t>
            </a:r>
            <a:endParaRPr sz="3300" b="0" i="0" u="none" strike="noStrike" cap="none" dirty="0"/>
          </a:p>
        </p:txBody>
      </p:sp>
      <p:sp>
        <p:nvSpPr>
          <p:cNvPr id="79" name="Google Shape;79;p14"/>
          <p:cNvSpPr/>
          <p:nvPr/>
        </p:nvSpPr>
        <p:spPr>
          <a:xfrm>
            <a:off x="995646" y="2306600"/>
            <a:ext cx="10160977" cy="460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CNAE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(Classificação Nacional de Atividades Econômicas) é um código de 7 dígitos utilizado para padronizar e identificar as atividades econômicas exercidas por empresas, autônomos e órgãos públicos no Brasil, definido pelo IBGE. Ele é obrigatório no CNPJ, determina o enquadramento tributário (impostos) e as obrigações acessórias de cada negócio.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pPr algn="just"/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Importância do CNAE Correto:</a:t>
            </a:r>
          </a:p>
          <a:p>
            <a:pPr algn="just"/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Utilizar um CNAE divergente da atividade real da empresa pode causar problemas fiscais, multas e impedimentos na emissão de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NFs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. É crucial para a definição do enquadramento tributário e para verificar a necessidade de alvarás específicos.</a:t>
            </a:r>
            <a:endParaRPr sz="2400" b="1" i="0" u="none" strike="noStrike" cap="non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923ABA-008B-AD7B-BF20-3AF347A2446B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61;p13">
            <a:extLst>
              <a:ext uri="{FF2B5EF4-FFF2-40B4-BE49-F238E27FC236}">
                <a16:creationId xmlns:a16="http://schemas.microsoft.com/office/drawing/2014/main" id="{E83E17D3-6B0C-B22C-A196-F1C04FD34377}"/>
              </a:ext>
            </a:extLst>
          </p:cNvPr>
          <p:cNvSpPr/>
          <p:nvPr/>
        </p:nvSpPr>
        <p:spPr>
          <a:xfrm>
            <a:off x="552570" y="843084"/>
            <a:ext cx="829993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4000" b="1" dirty="0">
                <a:solidFill>
                  <a:schemeClr val="bg1">
                    <a:lumMod val="85000"/>
                  </a:schemeClr>
                </a:solidFill>
              </a:rPr>
              <a:t>☐ 2. Registro na Junta Comercial</a:t>
            </a:r>
          </a:p>
        </p:txBody>
      </p:sp>
      <p:sp>
        <p:nvSpPr>
          <p:cNvPr id="21" name="Google Shape;64;p13">
            <a:extLst>
              <a:ext uri="{FF2B5EF4-FFF2-40B4-BE49-F238E27FC236}">
                <a16:creationId xmlns:a16="http://schemas.microsoft.com/office/drawing/2014/main" id="{6DE8F213-E9A9-009C-E542-973D3EECE6DE}"/>
              </a:ext>
            </a:extLst>
          </p:cNvPr>
          <p:cNvSpPr/>
          <p:nvPr/>
        </p:nvSpPr>
        <p:spPr>
          <a:xfrm>
            <a:off x="1187293" y="3081933"/>
            <a:ext cx="6659652" cy="33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Elaborar contrato social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Separar documentos dos sócios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Preencher DBE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Preencher formulário da Junta (FCPJ)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Pagar taxa (DARE)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</a:rPr>
              <a:t>☐ Protocolar processo</a:t>
            </a:r>
            <a:endParaRPr lang="pt-BR" sz="28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8C0C351-2EA6-DC48-05B5-25DC98C6C6DF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oogle Shape;163;p20" descr="preencoded.png">
            <a:extLst>
              <a:ext uri="{FF2B5EF4-FFF2-40B4-BE49-F238E27FC236}">
                <a16:creationId xmlns:a16="http://schemas.microsoft.com/office/drawing/2014/main" id="{CE9C2438-1B5A-AF8F-7F56-7690EBF2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508" y="-35837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62;p13">
            <a:extLst>
              <a:ext uri="{FF2B5EF4-FFF2-40B4-BE49-F238E27FC236}">
                <a16:creationId xmlns:a16="http://schemas.microsoft.com/office/drawing/2014/main" id="{BAF62889-62CF-FA1A-66EB-F993B8BEA554}"/>
              </a:ext>
            </a:extLst>
          </p:cNvPr>
          <p:cNvSpPr/>
          <p:nvPr/>
        </p:nvSpPr>
        <p:spPr>
          <a:xfrm>
            <a:off x="675730" y="2582405"/>
            <a:ext cx="231200" cy="364587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6C15DC49-B15F-420A-7942-F8CA477D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A3241536-A0CA-0D3C-4B08-02C249E4718B}"/>
              </a:ext>
            </a:extLst>
          </p:cNvPr>
          <p:cNvSpPr/>
          <p:nvPr/>
        </p:nvSpPr>
        <p:spPr>
          <a:xfrm>
            <a:off x="1019092" y="435050"/>
            <a:ext cx="8925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300"/>
              <a:buFont typeface="Outfit"/>
              <a:buNone/>
            </a:pP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DBE  (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Documento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Básico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 de  Entrada)</a:t>
            </a:r>
            <a:endParaRPr sz="3300" b="0" i="0" u="none" strike="noStrike" cap="none" dirty="0"/>
          </a:p>
        </p:txBody>
      </p:sp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87AB64D3-5DC6-9E83-0EFE-ED6F384321E8}"/>
              </a:ext>
            </a:extLst>
          </p:cNvPr>
          <p:cNvSpPr/>
          <p:nvPr/>
        </p:nvSpPr>
        <p:spPr>
          <a:xfrm>
            <a:off x="1019092" y="1277040"/>
            <a:ext cx="10160977" cy="5675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É o documento utilizado para solicitar qualquer ato perante o Cadastro Nacional da Pessoa Jurídica (CNPJ). 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Meio pelo qual a Receita Federal recebe as informações cadastrais das empresas para atualizar seu banco de dados. 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O DBE é gerado após a transmissão da FCPJ e é necessário para que as alterações cadastrais sejam efetivadas. A FCPJ (Ficha Cadastral da Pessoa Jurídica) é o formulário principal utilizado no processo de registro de empresas, no entanto, ele funciona hoje em conjunto com o DBE (Documento Básico de Entrada) no âmbito da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Redesim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(Rede Nacional para a Simplificação do Registro e da Legalização de Empresas e Negócios). 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Resumo: Você preenche a FCPJ, ela gera o DBE, e ambos (ou apenas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o DBE) são usados para dar entrada na Junta Comercial.</a:t>
            </a:r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1A6674-A623-69A6-6254-3B1FEC708EA2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7" name="Google Shape;147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2838" y="5025789"/>
            <a:ext cx="3072254" cy="1926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63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4C12601-F328-26D2-AA69-3C4AF957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5B7DFA90-F114-7197-0F1B-EF86B04AE305}"/>
              </a:ext>
            </a:extLst>
          </p:cNvPr>
          <p:cNvSpPr/>
          <p:nvPr/>
        </p:nvSpPr>
        <p:spPr>
          <a:xfrm>
            <a:off x="925307" y="826615"/>
            <a:ext cx="1175906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DARE  (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Documento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Arrecadação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Receitas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Estaduais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 lang="pt-BR" sz="3300" b="1" dirty="0">
              <a:solidFill>
                <a:schemeClr val="bg1">
                  <a:lumMod val="85000"/>
                </a:schemeClr>
              </a:solidFill>
              <a:latin typeface="Outfit" panose="020B0604020202020204" charset="0"/>
            </a:endParaRPr>
          </a:p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300"/>
              <a:buFont typeface="Outfit"/>
              <a:buNone/>
            </a:pPr>
            <a:endParaRPr sz="3300" b="0" i="0" u="none" strike="noStrike" cap="none" dirty="0"/>
          </a:p>
        </p:txBody>
      </p:sp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0939F58B-E54F-CFA7-CE7A-8DF590D85D82}"/>
              </a:ext>
            </a:extLst>
          </p:cNvPr>
          <p:cNvSpPr/>
          <p:nvPr/>
        </p:nvSpPr>
        <p:spPr>
          <a:xfrm>
            <a:off x="925307" y="2198621"/>
            <a:ext cx="10160977" cy="456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Utilizado para pagar os emolumentos (taxas) de registro de atos, como constituição de empresas (abertura), alterações contratuais e encerramento. 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É a guia oficial utilizada para o pagamento de tributos, taxas, multas e outras receitas devidas aos governos estaduais, com forte destaque para o estado de São Paulo (DARE-SP). 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Emitido online para regularizar pendências fiscais de pessoas físicas e jurídicas. O documento permite a quitação de débitos à vista ou parcelados, facilitando o controle fiscal.</a:t>
            </a:r>
            <a:endParaRPr lang="pt-BR" sz="26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5619B8B-8610-06C8-CE30-1CA50A86195F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03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1106330" y="974536"/>
            <a:ext cx="7275552" cy="61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</a:rPr>
              <a:t>☐ 3. Receita Federal</a:t>
            </a:r>
          </a:p>
        </p:txBody>
      </p:sp>
      <p:sp>
        <p:nvSpPr>
          <p:cNvPr id="116" name="Google Shape;116;p16"/>
          <p:cNvSpPr/>
          <p:nvPr/>
        </p:nvSpPr>
        <p:spPr>
          <a:xfrm>
            <a:off x="1547952" y="2976017"/>
            <a:ext cx="6564300" cy="1138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3200" dirty="0">
                <a:solidFill>
                  <a:schemeClr val="bg1">
                    <a:lumMod val="85000"/>
                  </a:schemeClr>
                </a:solidFill>
              </a:rPr>
              <a:t>☐ Vincular DBE ao processo</a:t>
            </a:r>
            <a:br>
              <a:rPr lang="pt-BR" sz="32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3200" dirty="0">
                <a:solidFill>
                  <a:schemeClr val="bg1">
                    <a:lumMod val="85000"/>
                  </a:schemeClr>
                </a:solidFill>
              </a:rPr>
              <a:t>☐ Obter CNPJ ativo</a:t>
            </a:r>
            <a:endParaRPr lang="pt-BR" sz="32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2407BD-8DAB-4AF7-3CE0-404AEC619115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5" name="Google Shape;15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13">
            <a:extLst>
              <a:ext uri="{FF2B5EF4-FFF2-40B4-BE49-F238E27FC236}">
                <a16:creationId xmlns:a16="http://schemas.microsoft.com/office/drawing/2014/main" id="{F8BA3A38-2E27-2D22-DDB1-4D31A8C37F0F}"/>
              </a:ext>
            </a:extLst>
          </p:cNvPr>
          <p:cNvSpPr/>
          <p:nvPr/>
        </p:nvSpPr>
        <p:spPr>
          <a:xfrm>
            <a:off x="994961" y="2391508"/>
            <a:ext cx="222738" cy="2700130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9420D03-C7CA-A14F-A60E-EB082F4D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5AC4B24C-705C-E7BE-034D-947BBBE1BCD0}"/>
              </a:ext>
            </a:extLst>
          </p:cNvPr>
          <p:cNvSpPr/>
          <p:nvPr/>
        </p:nvSpPr>
        <p:spPr>
          <a:xfrm>
            <a:off x="913584" y="747415"/>
            <a:ext cx="9414447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CNPJ  (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Cadastro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  Nacional  de  Pessoa  </a:t>
            </a:r>
            <a:r>
              <a:rPr lang="en-US" sz="3300" b="1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Jurídica</a:t>
            </a:r>
            <a:r>
              <a:rPr lang="en-US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 lang="pt-BR" sz="3300" b="1" dirty="0">
              <a:solidFill>
                <a:schemeClr val="bg1">
                  <a:lumMod val="85000"/>
                </a:schemeClr>
              </a:solidFill>
              <a:latin typeface="Outfit" panose="020B0604020202020204" charset="0"/>
            </a:endParaRPr>
          </a:p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300"/>
              <a:buFont typeface="Outfit"/>
              <a:buNone/>
            </a:pPr>
            <a:endParaRPr sz="3300" b="0" i="0" u="none" strike="noStrike" cap="none" dirty="0"/>
          </a:p>
        </p:txBody>
      </p:sp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75E8E970-90FB-0E56-83D4-2F9296576894}"/>
              </a:ext>
            </a:extLst>
          </p:cNvPr>
          <p:cNvSpPr/>
          <p:nvPr/>
        </p:nvSpPr>
        <p:spPr>
          <a:xfrm>
            <a:off x="913584" y="1925670"/>
            <a:ext cx="10160977" cy="50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CNPJ é o registro da empresa em um banco de dados da Receita Federal que identifica todas as empresas e outras entidades. É o equivalente ao CPF para pessoas físicas e é fundamental para a regularização de qualquer negócio. Ex.: com ele a empresa pode emitir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NFs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, e transmite credibilidade aos seus clientes, fornecedores e parceiros.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"ATIVO", significa que a empresa está com o cadastro regular e pode operar normalmente no mercado, funcionando como o "sinal verde" para os negócios. 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Onde consultar: A verificação oficial deve ser feita no site da Receita Federal através da página "Emissão de Comprovante de Inscrição e de Situação Cadastral". </a:t>
            </a:r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C6C3FE-C86D-B75A-FCC3-31BD80700F07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941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172" y="-955419"/>
            <a:ext cx="14630400" cy="339969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1930926" y="2919650"/>
            <a:ext cx="6509687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3300" b="1" dirty="0">
                <a:solidFill>
                  <a:srgbClr val="E1E5CD"/>
                </a:solidFill>
                <a:latin typeface="Outfit"/>
              </a:rPr>
              <a:t>☐ 4. Inscrição Municipal / Alvará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435029" y="4114800"/>
            <a:ext cx="13042800" cy="281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Solicitar inscrição municipal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Solicitar alvará de funcionamento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Apresentar contrato social registrado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Apresentar CNPJ ativo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Apresentar IPTU ou contrato de locação</a:t>
            </a:r>
            <a:b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</a:br>
            <a:r>
              <a:rPr lang="pt-BR" sz="2800" dirty="0">
                <a:solidFill>
                  <a:schemeClr val="bg1">
                    <a:lumMod val="85000"/>
                  </a:schemeClr>
                </a:solidFill>
                <a:highlight>
                  <a:srgbClr val="1F1F1F"/>
                </a:highlight>
              </a:rPr>
              <a:t>☐ Entregar croqui/planta do imóvel</a:t>
            </a:r>
            <a:endParaRPr lang="pt-BR" sz="2800" dirty="0">
              <a:solidFill>
                <a:schemeClr val="bg1">
                  <a:lumMod val="85000"/>
                </a:schemeClr>
              </a:solidFill>
              <a:effectLst/>
              <a:highlight>
                <a:srgbClr val="1F1F1F"/>
              </a:highlight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36A3F1E-8DA4-1906-1726-2B2FD1C3265C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62;p13">
            <a:extLst>
              <a:ext uri="{FF2B5EF4-FFF2-40B4-BE49-F238E27FC236}">
                <a16:creationId xmlns:a16="http://schemas.microsoft.com/office/drawing/2014/main" id="{EA2EAC09-F505-56A0-870B-8DF2D4942B0A}"/>
              </a:ext>
            </a:extLst>
          </p:cNvPr>
          <p:cNvSpPr/>
          <p:nvPr/>
        </p:nvSpPr>
        <p:spPr>
          <a:xfrm>
            <a:off x="1788565" y="3891227"/>
            <a:ext cx="226109" cy="3264483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AAA4568-1033-9060-59B4-6052121B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81575AA0-7CBE-2923-3C00-60E22A49E6DB}"/>
              </a:ext>
            </a:extLst>
          </p:cNvPr>
          <p:cNvSpPr/>
          <p:nvPr/>
        </p:nvSpPr>
        <p:spPr>
          <a:xfrm>
            <a:off x="854968" y="496800"/>
            <a:ext cx="9602016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Inscrição  Municipal  |  Alvará  de  Funcionamento</a:t>
            </a:r>
            <a:endParaRPr lang="pt-BR" sz="3300" b="1" dirty="0">
              <a:solidFill>
                <a:schemeClr val="bg1">
                  <a:lumMod val="85000"/>
                </a:schemeClr>
              </a:solidFill>
              <a:latin typeface="Outfit" panose="020B0604020202020204" charset="0"/>
            </a:endParaRPr>
          </a:p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300"/>
              <a:buFont typeface="Outfit"/>
              <a:buNone/>
            </a:pPr>
            <a:endParaRPr sz="3300" b="0" i="0" u="none" strike="noStrike" cap="none" dirty="0"/>
          </a:p>
        </p:txBody>
      </p:sp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1E78CE7B-53A5-CD6E-1833-D74C1B06D9E8}"/>
              </a:ext>
            </a:extLst>
          </p:cNvPr>
          <p:cNvSpPr/>
          <p:nvPr/>
        </p:nvSpPr>
        <p:spPr>
          <a:xfrm>
            <a:off x="854968" y="1491916"/>
            <a:ext cx="10160977" cy="5975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A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inscrição municipal (IM) 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de um escritório contábil é o registro obrigatório junto à prefeitura, funcionando como o "RG" da empresa no município onde atua. Ela identifica o negócio no cadastro tributário local, essencial para a emissão de notas fiscais de serviços (NFS-e), recolhimento do ISS e obtenção do alvará de funcionamento.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Em resumo,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a inscrição municipal 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é o que regulariza a prestação de serviços contábeis no âmbito local, garantindo que a empresa opere dentro da legalidade na cidade.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O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alvará de funcionamento 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é um documento oficial obrigatório emitido pela prefeitura ou órgãos municipais que autoriza uma empresa, comércio, indústria ou prestador de serviços a exercer suas atividades em determinado local. Ele atesta que o estabelecimento cumpre normas de segurança, higiene e zoneamento, garantindo a regularidade legal e evitando multas ou fechamento.</a:t>
            </a:r>
          </a:p>
          <a:p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20B7B3-23E5-DACD-D5C3-0323AF31921B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50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710457" y="1703845"/>
            <a:ext cx="7449502" cy="60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3300" b="1" dirty="0">
                <a:solidFill>
                  <a:srgbClr val="E1E5CD"/>
                </a:solidFill>
                <a:latin typeface="Outfit"/>
              </a:rPr>
              <a:t>☐ 5. Registro profissional obrigatório</a:t>
            </a:r>
          </a:p>
        </p:txBody>
      </p:sp>
      <p:sp>
        <p:nvSpPr>
          <p:cNvPr id="146" name="Google Shape;146;p18"/>
          <p:cNvSpPr/>
          <p:nvPr/>
        </p:nvSpPr>
        <p:spPr>
          <a:xfrm>
            <a:off x="802958" y="4321130"/>
            <a:ext cx="6297300" cy="1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C2FC098-3FFB-817E-09D0-F6859767FED1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B8A5C1-7B27-5751-088C-4E61849532AB}"/>
              </a:ext>
            </a:extLst>
          </p:cNvPr>
          <p:cNvSpPr txBox="1"/>
          <p:nvPr/>
        </p:nvSpPr>
        <p:spPr>
          <a:xfrm>
            <a:off x="1107759" y="3315588"/>
            <a:ext cx="114593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dirty="0">
                <a:solidFill>
                  <a:schemeClr val="bg1">
                    <a:lumMod val="85000"/>
                  </a:schemeClr>
                </a:solidFill>
              </a:rPr>
              <a:t>☐ Registrar empresa no </a:t>
            </a:r>
            <a:r>
              <a:rPr lang="pt-BR" sz="2500" b="1" dirty="0">
                <a:solidFill>
                  <a:schemeClr val="bg1">
                    <a:lumMod val="85000"/>
                  </a:schemeClr>
                </a:solidFill>
              </a:rPr>
              <a:t>C.R. de Contabilidade</a:t>
            </a:r>
            <a:br>
              <a:rPr lang="pt-BR" sz="25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500" dirty="0">
                <a:solidFill>
                  <a:schemeClr val="bg1">
                    <a:lumMod val="85000"/>
                  </a:schemeClr>
                </a:solidFill>
              </a:rPr>
              <a:t>☐ Indicar responsável técnico habilitado</a:t>
            </a:r>
            <a:br>
              <a:rPr lang="pt-BR" sz="25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500" dirty="0">
                <a:solidFill>
                  <a:schemeClr val="bg1">
                    <a:lumMod val="85000"/>
                  </a:schemeClr>
                </a:solidFill>
              </a:rPr>
              <a:t>☐ Registrar sócios contadores</a:t>
            </a:r>
            <a:br>
              <a:rPr lang="pt-BR" sz="25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500" dirty="0">
                <a:solidFill>
                  <a:schemeClr val="bg1">
                    <a:lumMod val="85000"/>
                  </a:schemeClr>
                </a:solidFill>
              </a:rPr>
              <a:t>☐ Obter certidão de regularidade</a:t>
            </a:r>
            <a:endParaRPr lang="pt-BR" sz="25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pic>
        <p:nvPicPr>
          <p:cNvPr id="117" name="Google Shape;11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9200" y="1184032"/>
            <a:ext cx="5268386" cy="55989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2;p13">
            <a:extLst>
              <a:ext uri="{FF2B5EF4-FFF2-40B4-BE49-F238E27FC236}">
                <a16:creationId xmlns:a16="http://schemas.microsoft.com/office/drawing/2014/main" id="{EDAAAE9A-C8E6-02DF-DD0A-FBB2046B59DF}"/>
              </a:ext>
            </a:extLst>
          </p:cNvPr>
          <p:cNvSpPr/>
          <p:nvPr/>
        </p:nvSpPr>
        <p:spPr>
          <a:xfrm>
            <a:off x="710457" y="2925729"/>
            <a:ext cx="215594" cy="2769859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1010036" y="988627"/>
            <a:ext cx="9646241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</a:rPr>
              <a:t>Certidão  de  Regularidade  Profissional (CRP)</a:t>
            </a:r>
            <a:endParaRPr sz="3300" b="1" dirty="0">
              <a:solidFill>
                <a:srgbClr val="E1E5CD"/>
              </a:solidFill>
              <a:latin typeface="Outfit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010036" y="2354297"/>
            <a:ext cx="9646242" cy="488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É um documento emitido pelo Conselho Regional de Contabilidade (CRC) que comprova que o contador ou técnico está com seu registro ativo e com as obrigações (anuidades, cursos) em dia. Ela garante a aptidão legal para assinar documentos técnicos (balanços, Decore) e exercer a profissão.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Esta certidão não garante a quitação de débitos que surjam após sua emissão, mas é essencial para a transparência e segurança na prestação de serviços contábeis.</a:t>
            </a:r>
            <a:endParaRPr lang="pt-BR" sz="26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9B3675-2239-D25B-8573-749E346337AA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7124261" y="1279038"/>
            <a:ext cx="6275225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3300" b="1" dirty="0">
                <a:solidFill>
                  <a:srgbClr val="E1E5CD"/>
                </a:solidFill>
                <a:latin typeface="Outfit"/>
              </a:rPr>
              <a:t>☐ 6. Licenças  complementares</a:t>
            </a:r>
          </a:p>
        </p:txBody>
      </p:sp>
      <p:sp>
        <p:nvSpPr>
          <p:cNvPr id="157" name="Google Shape;157;p19"/>
          <p:cNvSpPr/>
          <p:nvPr/>
        </p:nvSpPr>
        <p:spPr>
          <a:xfrm>
            <a:off x="7537940" y="3513819"/>
            <a:ext cx="7556400" cy="101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AVCB/CLCB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Verificar exigências municipais adicionais</a:t>
            </a:r>
            <a:endParaRPr lang="pt-BR" sz="26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pic>
        <p:nvPicPr>
          <p:cNvPr id="19" name="Imagem 18" descr="Multimedia and Computer Applications Concept (Fornecido por Getty Images)">
            <a:extLst>
              <a:ext uri="{FF2B5EF4-FFF2-40B4-BE49-F238E27FC236}">
                <a16:creationId xmlns:a16="http://schemas.microsoft.com/office/drawing/2014/main" id="{B9148215-8240-169B-0E8D-86B2EC70D358}"/>
              </a:ext>
            </a:extLst>
          </p:cNvPr>
          <p:cNvPicPr preferRelativeResize="0"/>
          <p:nvPr/>
        </p:nvPicPr>
        <p:blipFill>
          <a:blip r:embed="rId3"/>
          <a:srcRect r="20695"/>
          <a:stretch>
            <a:fillRect/>
          </a:stretch>
        </p:blipFill>
        <p:spPr>
          <a:xfrm>
            <a:off x="0" y="127731"/>
            <a:ext cx="6564923" cy="8101869"/>
          </a:xfrm>
          <a:custGeom>
            <a:avLst/>
            <a:gdLst>
              <a:gd name="csX0" fmla="*/ 2881529 w 6417964"/>
              <a:gd name="csY0" fmla="*/ 0 h 8229600"/>
              <a:gd name="csX1" fmla="*/ 3833619 w 6417964"/>
              <a:gd name="csY1" fmla="*/ 0 h 8229600"/>
              <a:gd name="csX2" fmla="*/ 3873155 w 6417964"/>
              <a:gd name="csY2" fmla="*/ 5708 h 8229600"/>
              <a:gd name="csX3" fmla="*/ 4546820 w 6417964"/>
              <a:gd name="csY3" fmla="*/ 211814 h 8229600"/>
              <a:gd name="csX4" fmla="*/ 5968146 w 6417964"/>
              <a:gd name="csY4" fmla="*/ 5530938 h 8229600"/>
              <a:gd name="csX5" fmla="*/ 5968145 w 6417964"/>
              <a:gd name="csY5" fmla="*/ 5530937 h 8229600"/>
              <a:gd name="csX6" fmla="*/ 2776140 w 6417964"/>
              <a:gd name="csY6" fmla="*/ 8221730 h 8229600"/>
              <a:gd name="csX7" fmla="*/ 2721312 w 6417964"/>
              <a:gd name="csY7" fmla="*/ 8229600 h 8229600"/>
              <a:gd name="csX8" fmla="*/ 1769247 w 6417964"/>
              <a:gd name="csY8" fmla="*/ 8229600 h 8229600"/>
              <a:gd name="csX9" fmla="*/ 1729699 w 6417964"/>
              <a:gd name="csY9" fmla="*/ 8223891 h 8229600"/>
              <a:gd name="csX10" fmla="*/ 1056034 w 6417964"/>
              <a:gd name="csY10" fmla="*/ 8017784 h 8229600"/>
              <a:gd name="csX11" fmla="*/ 0 w 6417964"/>
              <a:gd name="csY11" fmla="*/ 7545532 h 8229600"/>
              <a:gd name="csX12" fmla="*/ 0 w 6417964"/>
              <a:gd name="csY12" fmla="*/ 2024886 h 8229600"/>
              <a:gd name="csX13" fmla="*/ 50803 w 6417964"/>
              <a:gd name="csY13" fmla="*/ 1940845 h 8229600"/>
              <a:gd name="csX14" fmla="*/ 2826714 w 6417964"/>
              <a:gd name="csY14" fmla="*/ 7868 h 822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417964" h="8229600">
                <a:moveTo>
                  <a:pt x="2881529" y="0"/>
                </a:moveTo>
                <a:lnTo>
                  <a:pt x="3833619" y="0"/>
                </a:lnTo>
                <a:lnTo>
                  <a:pt x="3873155" y="5708"/>
                </a:lnTo>
                <a:cubicBezTo>
                  <a:pt x="4102551" y="45904"/>
                  <a:pt x="4328203" y="114050"/>
                  <a:pt x="4546820" y="211814"/>
                </a:cubicBezTo>
                <a:cubicBezTo>
                  <a:pt x="6295750" y="993926"/>
                  <a:pt x="6932099" y="3375378"/>
                  <a:pt x="5968146" y="5530938"/>
                </a:cubicBezTo>
                <a:lnTo>
                  <a:pt x="5968145" y="5530937"/>
                </a:lnTo>
                <a:cubicBezTo>
                  <a:pt x="5305427" y="7012884"/>
                  <a:pt x="4058849" y="8002248"/>
                  <a:pt x="2776140" y="8221730"/>
                </a:cubicBezTo>
                <a:lnTo>
                  <a:pt x="2721312" y="8229600"/>
                </a:lnTo>
                <a:lnTo>
                  <a:pt x="1769247" y="8229600"/>
                </a:lnTo>
                <a:lnTo>
                  <a:pt x="1729699" y="8223891"/>
                </a:lnTo>
                <a:cubicBezTo>
                  <a:pt x="1500303" y="8183695"/>
                  <a:pt x="1274650" y="8115548"/>
                  <a:pt x="1056034" y="8017784"/>
                </a:cubicBezTo>
                <a:lnTo>
                  <a:pt x="0" y="7545532"/>
                </a:lnTo>
                <a:lnTo>
                  <a:pt x="0" y="2024886"/>
                </a:lnTo>
                <a:lnTo>
                  <a:pt x="50803" y="1940845"/>
                </a:lnTo>
                <a:cubicBezTo>
                  <a:pt x="751923" y="882396"/>
                  <a:pt x="1777225" y="187445"/>
                  <a:pt x="2826714" y="7868"/>
                </a:cubicBezTo>
                <a:close/>
              </a:path>
            </a:pathLst>
          </a:custGeom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08AA8878-9027-B164-A864-04D32637BBD1}"/>
              </a:ext>
            </a:extLst>
          </p:cNvPr>
          <p:cNvSpPr/>
          <p:nvPr/>
        </p:nvSpPr>
        <p:spPr>
          <a:xfrm>
            <a:off x="7124261" y="2801815"/>
            <a:ext cx="226108" cy="2437178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99E9B7-C2B1-BA46-FA5C-CC585F8F1F29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7B82B9C8-5483-BC0C-1564-555F10E8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>
            <a:extLst>
              <a:ext uri="{FF2B5EF4-FFF2-40B4-BE49-F238E27FC236}">
                <a16:creationId xmlns:a16="http://schemas.microsoft.com/office/drawing/2014/main" id="{5A2C0EAE-B7AA-D7A1-B349-E0CC654E035E}"/>
              </a:ext>
            </a:extLst>
          </p:cNvPr>
          <p:cNvSpPr/>
          <p:nvPr/>
        </p:nvSpPr>
        <p:spPr>
          <a:xfrm>
            <a:off x="986589" y="678577"/>
            <a:ext cx="9646241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</a:rPr>
              <a:t>AVCB   |   CLCB</a:t>
            </a:r>
            <a:endParaRPr sz="3300" b="1" dirty="0">
              <a:solidFill>
                <a:srgbClr val="E1E5CD"/>
              </a:solidFill>
              <a:latin typeface="Outfit"/>
            </a:endParaRPr>
          </a:p>
        </p:txBody>
      </p:sp>
      <p:sp>
        <p:nvSpPr>
          <p:cNvPr id="165" name="Google Shape;165;p20">
            <a:extLst>
              <a:ext uri="{FF2B5EF4-FFF2-40B4-BE49-F238E27FC236}">
                <a16:creationId xmlns:a16="http://schemas.microsoft.com/office/drawing/2014/main" id="{0F21F15D-4426-AD28-D8EB-8BF5D3E96F9C}"/>
              </a:ext>
            </a:extLst>
          </p:cNvPr>
          <p:cNvSpPr/>
          <p:nvPr/>
        </p:nvSpPr>
        <p:spPr>
          <a:xfrm>
            <a:off x="986589" y="1955713"/>
            <a:ext cx="10021380" cy="488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AVCB é o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Auto de Vistoria do Corpo de Bombeiros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, um documento oficial que atesta que uma edificação foi vistoriada e cumpre as normas de segurança contra incêndio e pânico, que o local possui os equipamentos necessários (extintores, sinalização, saídas de emergência, etc.) para garantir a proteção dos ocupantes. Obrigatório para a maioria dos imóveis comerciais, industriais e residenciais multifamiliares, ele é essencial para obter alvarás de funcionamento e renovar seguros.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Escritórios de contabilidade pequenos, com área reduzida (geralmente até 200m²) e baixo risco de incêndio, costumam se enquadrar no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CLCB (Certificado de Licença do Corpo de Bombeiros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), que é uma versão mais simples e rápida de obter, e muitas vezes autodeclaratória.</a:t>
            </a:r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FFC393-8202-3001-F7D9-EE2CA5EC498D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676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1019908" y="1333770"/>
            <a:ext cx="68454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3300" b="1" dirty="0">
                <a:solidFill>
                  <a:srgbClr val="E1E5CD"/>
                </a:solidFill>
                <a:latin typeface="Outfit"/>
              </a:rPr>
              <a:t>☐ 7. Pós-abertura</a:t>
            </a:r>
          </a:p>
        </p:txBody>
      </p:sp>
      <p:sp>
        <p:nvSpPr>
          <p:cNvPr id="173" name="Google Shape;173;p21"/>
          <p:cNvSpPr/>
          <p:nvPr/>
        </p:nvSpPr>
        <p:spPr>
          <a:xfrm>
            <a:off x="1621122" y="3163740"/>
            <a:ext cx="7556400" cy="190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Emitir certificado digital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Cadastrar na prefeitura para notas fiscais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Optar pelo Simples Nacional 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Abrir conta bancária empresarial</a:t>
            </a:r>
            <a:br>
              <a:rPr lang="pt-BR" sz="2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600" dirty="0">
                <a:solidFill>
                  <a:schemeClr val="bg1">
                    <a:lumMod val="85000"/>
                  </a:schemeClr>
                </a:solidFill>
              </a:rPr>
              <a:t>☐ Instalar sistema contábil</a:t>
            </a:r>
            <a:endParaRPr lang="pt-BR" sz="26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21ED4DD4-F9CC-705A-6438-6BF1265BC664}"/>
              </a:ext>
            </a:extLst>
          </p:cNvPr>
          <p:cNvSpPr/>
          <p:nvPr/>
        </p:nvSpPr>
        <p:spPr>
          <a:xfrm>
            <a:off x="1019908" y="2567354"/>
            <a:ext cx="226108" cy="3323099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5978529D-237B-0656-6ED4-5D7BAF2B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>
            <a:extLst>
              <a:ext uri="{FF2B5EF4-FFF2-40B4-BE49-F238E27FC236}">
                <a16:creationId xmlns:a16="http://schemas.microsoft.com/office/drawing/2014/main" id="{B570F17A-4029-3A7C-B91D-6DBB63B92BDF}"/>
              </a:ext>
            </a:extLst>
          </p:cNvPr>
          <p:cNvSpPr/>
          <p:nvPr/>
        </p:nvSpPr>
        <p:spPr>
          <a:xfrm>
            <a:off x="1092097" y="537900"/>
            <a:ext cx="9646241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</a:rPr>
              <a:t>Certificado  Digital </a:t>
            </a:r>
            <a:endParaRPr sz="3300" b="1" dirty="0">
              <a:solidFill>
                <a:srgbClr val="E1E5CD"/>
              </a:solidFill>
              <a:latin typeface="Outfit"/>
            </a:endParaRPr>
          </a:p>
        </p:txBody>
      </p:sp>
      <p:sp>
        <p:nvSpPr>
          <p:cNvPr id="165" name="Google Shape;165;p20">
            <a:extLst>
              <a:ext uri="{FF2B5EF4-FFF2-40B4-BE49-F238E27FC236}">
                <a16:creationId xmlns:a16="http://schemas.microsoft.com/office/drawing/2014/main" id="{E06D0B93-0C95-5581-E4BF-42C3D2E20F21}"/>
              </a:ext>
            </a:extLst>
          </p:cNvPr>
          <p:cNvSpPr/>
          <p:nvPr/>
        </p:nvSpPr>
        <p:spPr>
          <a:xfrm>
            <a:off x="1092097" y="1697806"/>
            <a:ext cx="10900611" cy="55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"Certificado Digital" é o termo genérico para a tecnologia de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identidade virtual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Portanto,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Certificado Digital e-CNPJ 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é a "identidade eletrônica" de uma pessoa jurídica no meio virtual. Ele funciona como uma assinatura digital com validade jurídica, equivalente à assinatura de próprio punho, permitindo que a empresa assine documentos, emita notas fiscais e acesse sistemas do governo sem necessidade de cartório ou presença física. O e-CNPJ é a aplicação prática para, por exemplo, acessar sistemas como o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e-CAC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(Centro Virtual de Atendimento ao Contribuinte, é um portal seguro da Receita Federal que permite a pessoas físicas e jurídicas realizarem serviços fiscais online sem precisar ir a uma agência física).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Embora não seja obrigatório para o ato de abrir a empresa em si, o certificado é crucial na sequência para a regularização fiscal, emissão da primeira NF e cumprimento de obrigações com a Receita Federal e Prefeitura.</a:t>
            </a:r>
            <a:endParaRPr lang="pt-BR" sz="24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097DDDF-2B95-7030-FFA8-40724CCBF47C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8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84D12D21-F2E2-EC38-AF57-EDB160B5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>
            <a:extLst>
              <a:ext uri="{FF2B5EF4-FFF2-40B4-BE49-F238E27FC236}">
                <a16:creationId xmlns:a16="http://schemas.microsoft.com/office/drawing/2014/main" id="{8305D45E-E3CE-31F6-5F78-64119E86F371}"/>
              </a:ext>
            </a:extLst>
          </p:cNvPr>
          <p:cNvSpPr/>
          <p:nvPr/>
        </p:nvSpPr>
        <p:spPr>
          <a:xfrm>
            <a:off x="1138989" y="514453"/>
            <a:ext cx="9646241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757"/>
              </a:lnSpc>
              <a:buClr>
                <a:srgbClr val="E1E5CD"/>
              </a:buClr>
              <a:buSzPts val="3300"/>
            </a:pPr>
            <a:r>
              <a:rPr lang="pt-BR" sz="3300" b="1" dirty="0">
                <a:solidFill>
                  <a:srgbClr val="E1E5CD"/>
                </a:solidFill>
                <a:latin typeface="Outfit"/>
              </a:rPr>
              <a:t>Simples  Nacional   |   DAS</a:t>
            </a:r>
            <a:endParaRPr sz="3300" b="1" dirty="0">
              <a:solidFill>
                <a:srgbClr val="E1E5CD"/>
              </a:solidFill>
              <a:latin typeface="Outfit"/>
            </a:endParaRPr>
          </a:p>
        </p:txBody>
      </p:sp>
      <p:sp>
        <p:nvSpPr>
          <p:cNvPr id="165" name="Google Shape;165;p20">
            <a:extLst>
              <a:ext uri="{FF2B5EF4-FFF2-40B4-BE49-F238E27FC236}">
                <a16:creationId xmlns:a16="http://schemas.microsoft.com/office/drawing/2014/main" id="{B473FC96-C931-EB7B-CC6E-B366BB89D950}"/>
              </a:ext>
            </a:extLst>
          </p:cNvPr>
          <p:cNvSpPr/>
          <p:nvPr/>
        </p:nvSpPr>
        <p:spPr>
          <a:xfrm>
            <a:off x="1138989" y="1697806"/>
            <a:ext cx="11006118" cy="55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O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Simples Nacional 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é um regime tributário simplificado e unificado para micro e pequenas empresas no Brasil, previsto na Lei Complementar nº 123/2006. Ele unifica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oito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impostos federais, estaduais e municipais em uma única guia de pagamento (o DAS). Pode ser utilizado por empresas com faturamento anual de até R$ 4,8 milhões, facilitando a gestão fiscal e reduzindo a carga tributária.</a:t>
            </a: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pt-BR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O 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DAS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(Documento de Arrecadação do Simples Nacional) é a guia única de pagamento mensal obrigatória para empresas optantes pelo Simples Nacional, incluindo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MEIs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MEs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 e </a:t>
            </a:r>
            <a:r>
              <a:rPr lang="pt-BR" sz="2400" dirty="0" err="1">
                <a:solidFill>
                  <a:schemeClr val="bg1">
                    <a:lumMod val="85000"/>
                  </a:schemeClr>
                </a:solidFill>
              </a:rPr>
              <a:t>EPPs</a:t>
            </a:r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. Ele unifica impostos federais, estaduais e municipais em um único boleto, simplificando a burocracia fiscal e garantindo a regularidade do negócio.</a:t>
            </a:r>
          </a:p>
          <a:p>
            <a:endParaRPr lang="pt-B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</a:rPr>
              <a:t>Unificação de Tributos: O DAS engloba IRPJ, CSLL, PIS, COFINS, IPI, CPP (6 Federais), ICMS(Estadual) e ISS(Municipal).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6B3192-5CC8-F95C-4ABA-8B44CC376FC2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15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9F3FCA0F-FD10-27F8-EC10-181A5D1D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E4C03A-F4A6-E91F-E6C5-D0C553F8E632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Texto, Carta&#10;&#10;O conteúdo gerado por IA pode estar incorreto.">
            <a:extLst>
              <a:ext uri="{FF2B5EF4-FFF2-40B4-BE49-F238E27FC236}">
                <a16:creationId xmlns:a16="http://schemas.microsoft.com/office/drawing/2014/main" id="{E47758B9-3170-F4A9-4957-1BE721F31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22" y="199477"/>
            <a:ext cx="5931732" cy="7713599"/>
          </a:xfrm>
          <a:prstGeom prst="rect">
            <a:avLst/>
          </a:prstGeom>
        </p:spPr>
      </p:pic>
      <p:pic>
        <p:nvPicPr>
          <p:cNvPr id="14" name="Imagem 13" descr="Texto, Carta&#10;&#10;O conteúdo gerado por IA pode estar incorreto.">
            <a:extLst>
              <a:ext uri="{FF2B5EF4-FFF2-40B4-BE49-F238E27FC236}">
                <a16:creationId xmlns:a16="http://schemas.microsoft.com/office/drawing/2014/main" id="{DC5811F2-CE2B-4A2C-39DD-3BDE160C1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291" y="199478"/>
            <a:ext cx="5654680" cy="771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98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BDF97544-5A57-1C99-736E-D2AE9114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399352-E425-BF79-84E1-A31990311D6E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Texto, Carta&#10;&#10;O conteúdo gerado por IA pode estar incorreto.">
            <a:extLst>
              <a:ext uri="{FF2B5EF4-FFF2-40B4-BE49-F238E27FC236}">
                <a16:creationId xmlns:a16="http://schemas.microsoft.com/office/drawing/2014/main" id="{A3C052EB-A2F3-73EF-F300-472990D2D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77" y="260889"/>
            <a:ext cx="6353908" cy="7557806"/>
          </a:xfrm>
          <a:prstGeom prst="rect">
            <a:avLst/>
          </a:prstGeom>
        </p:spPr>
      </p:pic>
      <p:pic>
        <p:nvPicPr>
          <p:cNvPr id="10" name="Imagem 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F18AB30-8257-3FFD-CFE1-92D902DB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722" y="260888"/>
            <a:ext cx="5369170" cy="755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7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2" descr="Grupo de desenho vetorial de machos e fêmeas | Vectores de Domínio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00" y="1324650"/>
            <a:ext cx="6331800" cy="55803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6931650" y="1601550"/>
            <a:ext cx="5572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900"/>
              <a:buFont typeface="Outfit"/>
              <a:buNone/>
            </a:pPr>
            <a:r>
              <a:rPr lang="en-US" sz="4600">
                <a:solidFill>
                  <a:srgbClr val="E1E5C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Projeto Integrador</a:t>
            </a:r>
            <a:endParaRPr sz="46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6485900" y="3932650"/>
            <a:ext cx="5824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900"/>
              <a:buFont typeface="Outfit"/>
              <a:buNone/>
            </a:pPr>
            <a:r>
              <a:rPr lang="en-US" sz="5000">
                <a:solidFill>
                  <a:srgbClr val="FF99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Neusa Oliveira</a:t>
            </a:r>
            <a:endParaRPr sz="5000">
              <a:solidFill>
                <a:srgbClr val="FF99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182" name="Google Shape;182;p22" title="sen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075" y="6001300"/>
            <a:ext cx="1606575" cy="125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2"/>
          <p:cNvCxnSpPr/>
          <p:nvPr/>
        </p:nvCxnSpPr>
        <p:spPr>
          <a:xfrm flipH="1">
            <a:off x="6680875" y="2810850"/>
            <a:ext cx="18600" cy="260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2"/>
          <p:cNvSpPr txBox="1"/>
          <p:nvPr/>
        </p:nvSpPr>
        <p:spPr>
          <a:xfrm>
            <a:off x="6931650" y="2494350"/>
            <a:ext cx="7349700" cy="11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900"/>
              <a:buFont typeface="Outfit"/>
              <a:buNone/>
            </a:pPr>
            <a:r>
              <a:rPr lang="en-US" sz="2900">
                <a:solidFill>
                  <a:srgbClr val="E1E5C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Técnico em Contabilidade </a:t>
            </a:r>
            <a:br>
              <a:rPr lang="en-US" sz="2900">
                <a:solidFill>
                  <a:srgbClr val="E1E5CD"/>
                </a:solidFill>
                <a:latin typeface="Outfit SemiBold"/>
                <a:ea typeface="Outfit SemiBold"/>
                <a:cs typeface="Outfit SemiBold"/>
                <a:sym typeface="Outfit SemiBold"/>
              </a:rPr>
            </a:br>
            <a:r>
              <a:rPr lang="en-US" sz="2900">
                <a:solidFill>
                  <a:srgbClr val="E1E5C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Turma 01.2025</a:t>
            </a:r>
            <a:endParaRPr sz="29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9AF783-065C-903A-9531-0D1BCBE3FDA7}"/>
              </a:ext>
            </a:extLst>
          </p:cNvPr>
          <p:cNvSpPr/>
          <p:nvPr/>
        </p:nvSpPr>
        <p:spPr>
          <a:xfrm>
            <a:off x="12414739" y="7601279"/>
            <a:ext cx="2198489" cy="592484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C1458CC37B0444BA56125A6038E995" ma:contentTypeVersion="3" ma:contentTypeDescription="Crie um novo documento." ma:contentTypeScope="" ma:versionID="e6bb0adb1c29ddeba0a18117c6f399e4">
  <xsd:schema xmlns:xsd="http://www.w3.org/2001/XMLSchema" xmlns:xs="http://www.w3.org/2001/XMLSchema" xmlns:p="http://schemas.microsoft.com/office/2006/metadata/properties" xmlns:ns2="b7314150-17d6-4c36-bab9-49cf38293ea3" targetNamespace="http://schemas.microsoft.com/office/2006/metadata/properties" ma:root="true" ma:fieldsID="b320da244ecc769aa9541d299bf201ed" ns2:_="">
    <xsd:import namespace="b7314150-17d6-4c36-bab9-49cf38293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4150-17d6-4c36-bab9-49cf38293e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422650-1F30-4DB5-A183-5D37673CE76A}"/>
</file>

<file path=customXml/itemProps2.xml><?xml version="1.0" encoding="utf-8"?>
<ds:datastoreItem xmlns:ds="http://schemas.openxmlformats.org/officeDocument/2006/customXml" ds:itemID="{6F00876A-9DFD-4DAD-96DB-D700AEE188ED}"/>
</file>

<file path=customXml/itemProps3.xml><?xml version="1.0" encoding="utf-8"?>
<ds:datastoreItem xmlns:ds="http://schemas.openxmlformats.org/officeDocument/2006/customXml" ds:itemID="{0F0C4A2C-3E4D-432E-BB6B-68719D8F7A98}"/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1469</Words>
  <Application>Microsoft Office PowerPoint</Application>
  <PresentationFormat>Personalizar</PresentationFormat>
  <Paragraphs>71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Outfit</vt:lpstr>
      <vt:lpstr>Arial</vt:lpstr>
      <vt:lpstr>Calibri</vt:lpstr>
      <vt:lpstr>Comfortaa</vt:lpstr>
      <vt:lpstr>Outfit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NEUSA IRMA DE OLIVEIRA</cp:lastModifiedBy>
  <cp:revision>6</cp:revision>
  <dcterms:modified xsi:type="dcterms:W3CDTF">2026-02-18T14:20:40Z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0x0101006CC1458CC37B0444BA56125A6038E995</vt:lpwstr>
  </property>
</Properties>
</file>