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56" r:id="rId5"/>
    <p:sldId id="277" r:id="rId6"/>
    <p:sldId id="293" r:id="rId7"/>
    <p:sldId id="294" r:id="rId8"/>
    <p:sldId id="295" r:id="rId9"/>
    <p:sldId id="258" r:id="rId10"/>
    <p:sldId id="296" r:id="rId11"/>
    <p:sldId id="297" r:id="rId12"/>
    <p:sldId id="298" r:id="rId13"/>
    <p:sldId id="299" r:id="rId14"/>
    <p:sldId id="290" r:id="rId15"/>
    <p:sldId id="301" r:id="rId16"/>
    <p:sldId id="264" r:id="rId17"/>
    <p:sldId id="302" r:id="rId18"/>
    <p:sldId id="303" r:id="rId19"/>
    <p:sldId id="304" r:id="rId20"/>
    <p:sldId id="305" r:id="rId21"/>
    <p:sldId id="300" r:id="rId22"/>
    <p:sldId id="268" r:id="rId23"/>
    <p:sldId id="262" r:id="rId24"/>
    <p:sldId id="292" r:id="rId25"/>
    <p:sldId id="307" r:id="rId26"/>
    <p:sldId id="308" r:id="rId27"/>
    <p:sldId id="309" r:id="rId28"/>
    <p:sldId id="279" r:id="rId29"/>
    <p:sldId id="260" r:id="rId30"/>
    <p:sldId id="311" r:id="rId31"/>
    <p:sldId id="312" r:id="rId32"/>
    <p:sldId id="313" r:id="rId33"/>
    <p:sldId id="291" r:id="rId3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37BC8C06-0D5D-4355-B674-A5B9486B6B96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BBEB6193-5AA7-489B-8575-00593FC261D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F7B5DEC5-C999-4B3A-9232-229CEE854E71}" type="datetime1">
              <a:rPr lang="pt-BR" smtClean="0"/>
              <a:pPr/>
              <a:t>09/04/2026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10895658-EA1F-4910-80AB-4DA76E16747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65D6C-2CEC-FD3F-00C2-854ED8C3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A028DBA-6333-2791-7BF2-F88738F34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EC1838A-0630-00EC-CD49-65780E62E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2F82CC3-2949-2454-88A3-4BF9B7446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1028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56995-2E8B-1BE5-5679-EF4421FB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BD18BB2-6C25-EDF3-6E7D-C44D48B23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99CB8AB-9A56-0738-7034-0E3E24D23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B372198-46BE-7BF1-8FF8-DC1C6C3A8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080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A7CB-ED8F-ED15-F0DF-F2BF1338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A7BBC24-F66C-2231-2FCE-A47B5BDBD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F700DD15-D34F-9EB0-3A3A-E57F444B0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E6C36DE-9D2B-29F5-A45B-8C104DEAA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505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C704-E652-CD64-3C72-E4CF8407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14E0B5A-CD73-DB16-1F6A-338B84B7B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14FF3BE-4314-F439-4C59-4F5C6C610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18C1C81-F3EF-DD13-BEEB-42C2FF705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2671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38BD-0D51-142A-B253-35FB34B5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3BB09F7-0602-8BD0-59E1-3FDDC8240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C02873B-3BC7-BDDA-B150-4A7B20997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BC279D4-641D-234A-4A45-AA5C96262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7748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BD593-2323-21FC-6B51-30D4AA058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A4EEF57-C581-68AC-C60F-716689DB0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1F012F8-5B8E-EBD5-C567-BE7FF7D5F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DB61199-8CA4-688B-98D1-800D592F6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1774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A6E1C-4CC7-AAD7-4FFF-221E2809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68393AB-A223-375C-C388-3002A726C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8F577F8-12FF-3066-EC11-BCB016A9E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195AAFF-5829-E7FE-1961-5311EF69F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0197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FAFCB-D228-13DF-356E-DAB411E0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EBF57A9-C551-2734-C55C-58D4749D3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14970D4-6C02-FC1F-AA2E-1F120440A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EE380B0-9CD8-85C8-B6A9-1C821E22D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9788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735C-616F-24B2-628C-F466E615A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7699233-3F9A-7694-A7E8-20FE65796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9396DF3-BC03-3EED-6E0A-1101D097E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FBBBFAC-CFE1-1201-514C-945699D8F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0410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02F7-EE6B-CA3E-22DB-19DC0688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6740F39-91EC-8BEE-8C8D-055A53EE6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2BE7DF3B-2915-B42E-FF24-33793D561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3FF7D72-A800-E752-03B8-C82159581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10259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E3B0-509A-3F7E-BB5B-9468D9D0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7EDC665-7AC2-2100-88BF-0ACBE04A3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4CCA905-EC54-383C-15FA-C28C8D9F3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133EA20-F774-09FF-F760-C1FF1C344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78164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93D59-1697-E876-CDD1-0A747100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9E2B606-19C0-C7FA-7CB4-EA20C769E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F11C3015-5DE2-3E65-C6BC-340FDFA36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D11B293-E8EB-D1FB-9E65-0F634F10A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69472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4E7A-3C3B-EAD7-ED30-8833F9F0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DEFEAB1-7698-80AC-1328-3D8CBAD74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17D2E73-6B39-03C6-3728-8F8E5A23F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224A93E-0D0C-383A-535C-8A6083486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2877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0C68-2A04-CD20-BB58-D13B57EC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04CE2DF-A660-EF6A-7A5C-2D1CCD1A0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BDAE109-85C0-19E4-844A-808D644A3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26E2A0B-1931-3E52-A705-F688E0A06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7350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7B5F5-EE34-7716-593E-8297C9A43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2F418993-C257-73DB-97BD-C0219E468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200B4F35-F27B-CB11-885D-9E218B8DB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4F23742-948E-501F-BE02-3476F473B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11510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705EB-0143-B8AB-B66B-771FD507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A80CDDD-3421-7F63-70C4-BCCC656EB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77C1088-2FF3-03A7-3A6E-F5D76C79B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9BFE776-FFAC-5EB0-D4F9-3777AE965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3641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024D-819D-BD8E-BB8F-5795A06C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3F47AB74-560B-9FAA-6A3D-030D60DD0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AE06F26-5191-4654-2596-9E53C05B3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6B96F19-311E-78B2-2EE3-09C8DD49C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48084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7FFD6-F316-7F82-3645-4BDCC7AE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AD45FDC-9FB3-4A7E-FC2D-5FE160287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E52206F-BBF7-4199-AD4A-886D522A9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B28A149-0D63-17A3-49FC-E0B57126A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94479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5FEB-5016-3C56-8448-0B6D926B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AE20C60-0A4E-79C8-4B37-619C7BBBE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28BAD116-9C37-8115-7F16-B7E4F44FB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15C4912-7EE9-482F-C145-A4839748B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63528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0895658-EA1F-4910-80AB-4DA76E167475}" type="slidenum">
              <a:rPr lang="pt-BR" smtClean="0"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180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pt-BR"/>
                            </a:defPPr>
                          </a:lstStyle>
                          <a:p>
                            <a:pPr algn="ctr" rtl="0"/>
                            <a:r>
                              <a:rPr lang="pt-BR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pt-BR"/>
                          </a:defPPr>
                        </a:lstStyle>
                        <a:p>
                          <a:pPr algn="ctr" rtl="0"/>
                          <a:r>
                            <a:rPr lang="pt-BR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pt-BR"/>
                        </a:defPPr>
                      </a:lstStyle>
                      <a:p>
                        <a:pPr algn="ctr" rtl="0"/>
                        <a:r>
                          <a:rPr lang="pt-BR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BR"/>
                    </a:defPPr>
                  </a:lstStyle>
                  <a:p>
                    <a:pPr algn="ctr" rtl="0"/>
                    <a:r>
                      <a:rPr lang="pt-BR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pt-BR"/>
                </a:defPPr>
              </a:lstStyle>
              <a:p>
                <a:pPr algn="ctr" rtl="0"/>
                <a:r>
                  <a:rPr lang="pt-BR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rtlCol="0" anchor="ctr"/>
          <a:lstStyle>
            <a:lvl1pPr algn="l">
              <a:defRPr lang="pt-BR" sz="60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rtlCol="0" anchor="b" anchorCtr="0"/>
          <a:lstStyle>
            <a:lvl1pPr>
              <a:defRPr lang="pt-BR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pt-BR" sz="2400"/>
            </a:lvl1pPr>
            <a:lvl2pPr marL="457200">
              <a:lnSpc>
                <a:spcPts val="2000"/>
              </a:lnSpc>
              <a:defRPr lang="pt-BR" sz="1800"/>
            </a:lvl2pPr>
            <a:lvl3pPr marL="914400">
              <a:lnSpc>
                <a:spcPts val="2000"/>
              </a:lnSpc>
              <a:defRPr lang="pt-BR" sz="1800"/>
            </a:lvl3pPr>
            <a:lvl4pPr marL="1371600">
              <a:lnSpc>
                <a:spcPts val="2000"/>
              </a:lnSpc>
              <a:defRPr lang="pt-BR" sz="1800"/>
            </a:lvl4pPr>
            <a:lvl5pPr marL="1828800">
              <a:lnSpc>
                <a:spcPts val="2000"/>
              </a:lnSpc>
              <a:defRPr lang="pt-BR" sz="18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20" name="Imagem 19" descr="Um padrão distribuído em preto e branco&#10;&#10;Descrição gerada automaticamente com baixa confiança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pt-BR"/>
                            </a:defPPr>
                          </a:lstStyle>
                          <a:p>
                            <a:pPr algn="ctr" rtl="0"/>
                            <a:r>
                              <a:rPr lang="pt-BR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pt-BR"/>
                          </a:defPPr>
                        </a:lstStyle>
                        <a:p>
                          <a:pPr algn="ctr" rtl="0"/>
                          <a:r>
                            <a:rPr lang="pt-BR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pt-BR"/>
                        </a:defPPr>
                      </a:lstStyle>
                      <a:p>
                        <a:pPr algn="ctr" rtl="0"/>
                        <a:r>
                          <a:rPr lang="pt-BR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BR"/>
                    </a:defPPr>
                  </a:lstStyle>
                  <a:p>
                    <a:pPr algn="ctr" rtl="0"/>
                    <a:r>
                      <a:rPr lang="pt-BR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pt-BR"/>
                </a:defPPr>
              </a:lstStyle>
              <a:p>
                <a:pPr algn="ctr" rtl="0"/>
                <a:r>
                  <a:rPr lang="pt-BR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cxnSp>
          <p:nvCxnSpPr>
            <p:cNvPr id="66" name="Conector Reto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 rtlCol="0"/>
          <a:lstStyle>
            <a:lvl1pPr>
              <a:defRPr lang="pt-BR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rtlCol="0"/>
          <a:lstStyle>
            <a:lvl1pPr>
              <a:defRPr lang="pt-BR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6" name="Espaço Reservado para Data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 rtlCol="0"/>
          <a:lstStyle>
            <a:lvl1pPr>
              <a:defRPr lang="pt-BR">
                <a:solidFill>
                  <a:schemeClr val="tx1"/>
                </a:solidFill>
              </a:defRPr>
            </a:lvl1pPr>
          </a:lstStyle>
          <a:p>
            <a:pPr rtl="0"/>
            <a:fld id="{4707782D-E7CF-430F-957E-0883D3A7A2C5}" type="datetime1">
              <a:rPr lang="pt-BR" smtClean="0"/>
              <a:t>09/04/2026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rtlCol="0" anchor="ctr">
            <a:normAutofit/>
          </a:bodyPr>
          <a:lstStyle>
            <a:lvl1pPr algn="l">
              <a:defRPr lang="pt-BR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3" name="Espaço Reservado para Imagem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algn="ctr"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inserir imagem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11" name="Imagem 10" descr="Um padrão preto e branco listrado&#10;&#10;Descrição gerada automaticamente com baixa confiança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m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rtlCol="0" anchor="b">
            <a:normAutofit/>
          </a:bodyPr>
          <a:lstStyle>
            <a:lvl1pPr algn="l">
              <a:defRPr lang="pt-BR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upo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upo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upo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upo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upo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pt-BR"/>
                            </a:defPPr>
                          </a:lstStyle>
                          <a:p>
                            <a:pPr algn="ctr" rtl="0"/>
                            <a:r>
                              <a:rPr lang="pt-BR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pt-BR"/>
                          </a:defPPr>
                        </a:lstStyle>
                        <a:p>
                          <a:pPr algn="ctr" rtl="0"/>
                          <a:r>
                            <a:rPr lang="pt-BR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pt-BR"/>
                        </a:defPPr>
                      </a:lstStyle>
                      <a:p>
                        <a:pPr algn="ctr" rtl="0"/>
                        <a:r>
                          <a:rPr lang="pt-BR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BR"/>
                    </a:defPPr>
                  </a:lstStyle>
                  <a:p>
                    <a:pPr algn="ctr" rtl="0"/>
                    <a:r>
                      <a:rPr lang="pt-BR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pt-BR"/>
                </a:defPPr>
              </a:lstStyle>
              <a:p>
                <a:pPr algn="ctr" rtl="0"/>
                <a:r>
                  <a:rPr lang="pt-BR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63" name="Espaço Reservado para Imagem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inserir imagem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rtlCol="0" anchor="t" anchorCtr="0"/>
          <a:lstStyle>
            <a:lvl1pPr>
              <a:defRPr lang="pt-BR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35" name="Imagem 34" descr="Um padrão distribuído em preto e branco&#10;&#10;Descrição gerada automaticamente com baixa confiança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Elemento gráfico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pt-BR"/>
                            </a:defPPr>
                          </a:lstStyle>
                          <a:p>
                            <a:pPr algn="ctr" rtl="0"/>
                            <a:r>
                              <a:rPr lang="pt-BR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pt-BR"/>
                          </a:defPPr>
                        </a:lstStyle>
                        <a:p>
                          <a:pPr algn="ctr" rtl="0"/>
                          <a:r>
                            <a:rPr lang="pt-BR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pt-BR"/>
                        </a:defPPr>
                      </a:lstStyle>
                      <a:p>
                        <a:pPr algn="ctr" rtl="0"/>
                        <a:r>
                          <a:rPr lang="pt-BR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BR"/>
                    </a:defPPr>
                  </a:lstStyle>
                  <a:p>
                    <a:pPr algn="ctr" rtl="0"/>
                    <a:r>
                      <a:rPr lang="pt-BR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pt-BR"/>
                </a:defPPr>
              </a:lstStyle>
              <a:p>
                <a:pPr algn="ctr" rtl="0"/>
                <a:r>
                  <a:rPr lang="pt-BR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67" name="Espaço Reservado para Data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1651ADEE-A958-458D-9A8F-FFAE44502D6E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68" name="Espaço Reservado para Rodapé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69" name="Espaço Reservado para o Número do Slide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pt-BR"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lang="pt-BR"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lang="pt-BR"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lang="pt-BR"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lang="pt-B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áfico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Imagem 34" descr="Um padrão distribuído em preto e branco&#10;&#10;Descrição gerada automaticamente com baixa confiança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upo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upo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upo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upo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upo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upo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upo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upo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pt-BR"/>
                            </a:defPPr>
                          </a:lstStyle>
                          <a:p>
                            <a:pPr algn="ctr" rtl="0"/>
                            <a:r>
                              <a:rPr lang="pt-BR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pt-BR"/>
                          </a:defPPr>
                        </a:lstStyle>
                        <a:p>
                          <a:pPr algn="ctr" rtl="0"/>
                          <a:r>
                            <a:rPr lang="pt-BR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pt-BR"/>
                        </a:defPPr>
                      </a:lstStyle>
                      <a:p>
                        <a:pPr algn="ctr" rtl="0"/>
                        <a:r>
                          <a:rPr lang="pt-BR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BR"/>
                    </a:defPPr>
                  </a:lstStyle>
                  <a:p>
                    <a:pPr algn="ctr" rtl="0"/>
                    <a:r>
                      <a:rPr lang="pt-BR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pt-BR"/>
                </a:defPPr>
              </a:lstStyle>
              <a:p>
                <a:pPr algn="ctr" rtl="0"/>
                <a:r>
                  <a:rPr lang="pt-BR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cxnSp>
          <p:nvCxnSpPr>
            <p:cNvPr id="77" name="Conector Reto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rtlCol="0" anchor="b">
            <a:normAutofit/>
          </a:bodyPr>
          <a:lstStyle>
            <a:lvl1pPr algn="l">
              <a:defRPr lang="pt-BR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ADICIONAR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92" name="Espaço Reservado para Data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466EF2EF-7F8E-47B6-AF5D-84AAE7AF8643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193" name="Espaço Reservado para Rodapé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194" name="Espaço Reservado para o Número do Slide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rtlCol="0" anchor="t" anchorCtr="0"/>
          <a:lstStyle>
            <a:lvl1pPr>
              <a:defRPr lang="pt-BR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12" name="Imagem 11" descr="Um padrão distribuído em preto e branco&#10;&#10;Descrição gerada automaticamente com baixa confiança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31" name="Gráfico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Espaço Reservado para Data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 rtlCol="0"/>
          <a:lstStyle>
            <a:lvl1pPr>
              <a:defRPr lang="pt-BR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8D76353-A8A1-4ADE-8B01-F69E078C3735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33" name="Espaço Reservado para Rodapé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 rtlCol="0"/>
          <a:lstStyle>
            <a:lvl1pPr>
              <a:defRPr lang="pt-BR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34" name="Espaço Reservado para o Número do Slide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pt-BR" sz="1800"/>
            </a:lvl1pPr>
            <a:lvl2pPr marL="457200">
              <a:lnSpc>
                <a:spcPts val="2000"/>
              </a:lnSpc>
              <a:defRPr lang="pt-BR" sz="1800"/>
            </a:lvl2pPr>
            <a:lvl3pPr marL="914400">
              <a:lnSpc>
                <a:spcPts val="2000"/>
              </a:lnSpc>
              <a:defRPr lang="pt-BR" sz="1800"/>
            </a:lvl3pPr>
            <a:lvl4pPr marL="1371600">
              <a:lnSpc>
                <a:spcPts val="2000"/>
              </a:lnSpc>
              <a:defRPr lang="pt-BR" sz="1800"/>
            </a:lvl4pPr>
            <a:lvl5pPr marL="1828800">
              <a:lnSpc>
                <a:spcPts val="2000"/>
              </a:lnSpc>
              <a:defRPr lang="pt-BR" sz="18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pt-BR" sz="1800"/>
            </a:lvl1pPr>
            <a:lvl2pPr marL="457200">
              <a:lnSpc>
                <a:spcPts val="2000"/>
              </a:lnSpc>
              <a:defRPr lang="pt-BR" sz="1800"/>
            </a:lvl2pPr>
            <a:lvl3pPr marL="914400">
              <a:lnSpc>
                <a:spcPts val="2000"/>
              </a:lnSpc>
              <a:defRPr lang="pt-BR" sz="1800"/>
            </a:lvl3pPr>
            <a:lvl4pPr marL="1371600">
              <a:lnSpc>
                <a:spcPts val="2000"/>
              </a:lnSpc>
              <a:defRPr lang="pt-BR" sz="1800"/>
            </a:lvl4pPr>
            <a:lvl5pPr marL="1828800">
              <a:lnSpc>
                <a:spcPts val="2000"/>
              </a:lnSpc>
              <a:defRPr lang="pt-BR" sz="18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áfico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tângulo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tângulo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01" name="Forma livre: Forma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63" name="Forma livre: Forma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rtlCol="0" anchor="t" anchorCtr="0"/>
          <a:lstStyle>
            <a:lvl1pPr>
              <a:defRPr lang="pt-BR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ADICIONAR TÍTULO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pt-BR" sz="1800"/>
            </a:lvl1pPr>
            <a:lvl2pPr>
              <a:lnSpc>
                <a:spcPts val="2000"/>
              </a:lnSpc>
              <a:defRPr lang="pt-BR" sz="1800"/>
            </a:lvl2pPr>
            <a:lvl3pPr>
              <a:lnSpc>
                <a:spcPts val="2000"/>
              </a:lnSpc>
              <a:defRPr lang="pt-BR" sz="1800"/>
            </a:lvl3pPr>
            <a:lvl4pPr>
              <a:lnSpc>
                <a:spcPts val="2000"/>
              </a:lnSpc>
              <a:defRPr lang="pt-BR" sz="1800"/>
            </a:lvl4pPr>
            <a:lvl5pPr>
              <a:lnSpc>
                <a:spcPts val="2000"/>
              </a:lnSpc>
              <a:defRPr lang="pt-BR" sz="18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lang="pt-BR" sz="1800"/>
            </a:lvl1pPr>
            <a:lvl2pPr marL="457200">
              <a:lnSpc>
                <a:spcPts val="2000"/>
              </a:lnSpc>
              <a:defRPr lang="pt-BR" sz="1800"/>
            </a:lvl2pPr>
            <a:lvl3pPr marL="914400">
              <a:lnSpc>
                <a:spcPts val="2000"/>
              </a:lnSpc>
              <a:defRPr lang="pt-BR" sz="1800"/>
            </a:lvl3pPr>
            <a:lvl4pPr marL="1371600">
              <a:lnSpc>
                <a:spcPts val="2000"/>
              </a:lnSpc>
              <a:defRPr lang="pt-BR" sz="1800"/>
            </a:lvl4pPr>
            <a:lvl5pPr marL="1828800">
              <a:lnSpc>
                <a:spcPts val="2000"/>
              </a:lnSpc>
              <a:defRPr lang="pt-BR" sz="18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9" name="Espaço Reservado para Data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 rtlCol="0"/>
          <a:lstStyle>
            <a:lvl1pPr>
              <a:defRPr lang="pt-BR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434115E-6706-428D-9520-CDBBE88AF0C4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210" name="Espaço Reservado para Rodapé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 rtlCol="0"/>
          <a:lstStyle>
            <a:lvl1pPr>
              <a:defRPr lang="pt-BR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211" name="Espaço Reservado para o Número do Slide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 rtlCol="0"/>
          <a:lstStyle>
            <a:lvl1pPr>
              <a:defRPr lang="pt-BR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+ Image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rtlCol="0" anchor="t" anchorCtr="0"/>
          <a:lstStyle>
            <a:lvl1pPr>
              <a:defRPr lang="pt-BR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ADICIONAR TÍTULO</a:t>
            </a:r>
          </a:p>
        </p:txBody>
      </p:sp>
      <p:sp>
        <p:nvSpPr>
          <p:cNvPr id="27" name="Espaço Reservado para Imagem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l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inserir imagem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pt-BR"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lang="pt-BR"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lang="pt-BR"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lang="pt-BR"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lang="pt-BR" sz="18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9" name="Espaço Reservado para Data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741BD66E-9648-4054-8E6F-67EA6868A6E7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70" name="Espaço Reservado para Rodapé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71" name="Espaço Reservado para o Número do Slide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tângulo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+ Tabel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rtlCol="0" anchor="t" anchorCtr="0"/>
          <a:lstStyle>
            <a:lvl1pPr>
              <a:defRPr lang="pt-BR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ADICIONAR TÍTULO</a:t>
            </a:r>
          </a:p>
        </p:txBody>
      </p:sp>
      <p:sp>
        <p:nvSpPr>
          <p:cNvPr id="7" name="Retâ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pt-BR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pt-BR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pt-BR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pt-BR" sz="1800"/>
            </a:lvl5pPr>
          </a:lstStyle>
          <a:p>
            <a:pPr lvl="0" rtl="0"/>
            <a:r>
              <a:rPr lang="pt-BR"/>
              <a:t>Clique para adicionar o texto </a:t>
            </a:r>
          </a:p>
          <a:p>
            <a:pPr marL="685800" lvl="1" indent="-228600" rtl="0"/>
            <a:r>
              <a:rPr lang="pt-BR"/>
              <a:t>Segundo nível</a:t>
            </a:r>
          </a:p>
          <a:p>
            <a:pPr marL="1143000" lvl="2" indent="-228600" rtl="0"/>
            <a:r>
              <a:rPr lang="pt-BR"/>
              <a:t>Terceiro nível</a:t>
            </a:r>
          </a:p>
          <a:p>
            <a:pPr marL="1600200" lvl="3" indent="-228600" rtl="0"/>
            <a:r>
              <a:rPr lang="pt-BR"/>
              <a:t>Quarto nível</a:t>
            </a:r>
          </a:p>
          <a:p>
            <a:pPr marL="2057400" lvl="4" indent="-228600" rtl="0"/>
            <a:r>
              <a:rPr lang="pt-BR"/>
              <a:t>Quinto nível</a:t>
            </a:r>
          </a:p>
        </p:txBody>
      </p:sp>
      <p:sp>
        <p:nvSpPr>
          <p:cNvPr id="8" name="Espaço Reservado para Tabela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 rtlCol="0"/>
          <a:lstStyle>
            <a:lvl1pPr>
              <a:defRPr lang="pt-BR"/>
            </a:lvl1pPr>
          </a:lstStyle>
          <a:p>
            <a:pPr rtl="0"/>
            <a:r>
              <a:rPr lang="pt-BR"/>
              <a:t>Clique no ícone para inserir a tabela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pt-BR">
                <a:solidFill>
                  <a:schemeClr val="tx1"/>
                </a:solidFill>
              </a:defRPr>
            </a:lvl1pPr>
          </a:lstStyle>
          <a:p>
            <a:pPr rtl="0"/>
            <a:fld id="{271FF10F-F25D-4B63-ACCB-630393AA2720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pt-BR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pt-BR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rtlCol="0" anchor="t" anchorCtr="0"/>
          <a:lstStyle>
            <a:lvl1pPr>
              <a:defRPr lang="pt-BR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Elemento gráfico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pt-BR"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lang="pt-BR"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lang="pt-BR"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lang="pt-BR"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lang="pt-B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 rtlCol="0"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lang="pt-BR"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lang="pt-BR"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lang="pt-BR"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lang="pt-BR"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lang="pt-B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o texto 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3" name="Espaço Reservado para Data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A2063158-7BA3-4247-94BC-DA1EE3A46640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64" name="Espaço Reservado para Rodapé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65" name="Espaço Reservado para o Número do Slide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rtlCol="0" anchor="t" anchorCtr="0"/>
          <a:lstStyle>
            <a:lvl1pPr>
              <a:defRPr lang="pt-BR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ADICIONAR TÍTULO</a:t>
            </a:r>
          </a:p>
        </p:txBody>
      </p:sp>
      <p:sp>
        <p:nvSpPr>
          <p:cNvPr id="5" name="Espaço reservado para a Tabela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 rtlCol="0"/>
          <a:lstStyle>
            <a:lvl1pPr>
              <a:defRPr lang="pt-BR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pt-BR"/>
            </a:pPr>
            <a:r>
              <a:rPr lang="pt-BR"/>
              <a:t>Clique no ícone para inserir a tabela</a:t>
            </a:r>
          </a:p>
          <a:p>
            <a:pPr rtl="0"/>
            <a:endParaRPr lang="pt-BR" dirty="0"/>
          </a:p>
        </p:txBody>
      </p:sp>
      <p:sp>
        <p:nvSpPr>
          <p:cNvPr id="7" name="Retâ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pt-BR">
                <a:solidFill>
                  <a:schemeClr val="tx1"/>
                </a:solidFill>
              </a:defRPr>
            </a:lvl1pPr>
          </a:lstStyle>
          <a:p>
            <a:pPr rtl="0"/>
            <a:fld id="{15AF5D45-B96F-41AC-A41B-EA7F09E9A734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pt-BR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pt-BR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ú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pt-BR"/>
                              </a:defPPr>
                            </a:lstStyle>
                            <a:p>
                              <a:pPr algn="ctr" rtl="0"/>
                              <a:r>
                                <a:rPr lang="pt-BR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pt-BR"/>
                            </a:defPPr>
                          </a:lstStyle>
                          <a:p>
                            <a:pPr algn="ctr" rtl="0"/>
                            <a:r>
                              <a:rPr lang="pt-BR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pt-BR"/>
                          </a:defPPr>
                        </a:lstStyle>
                        <a:p>
                          <a:pPr algn="ctr" rtl="0"/>
                          <a:r>
                            <a:rPr lang="pt-BR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pt-BR"/>
                        </a:defPPr>
                      </a:lstStyle>
                      <a:p>
                        <a:pPr algn="ctr" rtl="0"/>
                        <a:r>
                          <a:rPr lang="pt-BR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BR"/>
                    </a:defPPr>
                  </a:lstStyle>
                  <a:p>
                    <a:pPr algn="ctr" rtl="0"/>
                    <a:r>
                      <a:rPr lang="pt-BR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</a:lstStyle>
                <a:p>
                  <a:pPr algn="ctr" rtl="0"/>
                  <a:r>
                    <a:rPr lang="pt-BR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pt-BR"/>
                </a:defPPr>
              </a:lstStyle>
              <a:p>
                <a:pPr algn="ctr" rtl="0"/>
                <a:r>
                  <a:rPr lang="pt-BR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rtlCol="0" anchor="b">
            <a:normAutofit/>
          </a:bodyPr>
          <a:lstStyle>
            <a:lvl1pPr algn="l">
              <a:defRPr lang="pt-BR" sz="44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1800">
                <a:solidFill>
                  <a:schemeClr val="tx2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E30E830-CB83-44E4-A4B8-2FEAE62480B7}" type="datetime1">
              <a:rPr lang="pt-BR" smtClean="0"/>
              <a:t>09/04/2026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akrosystem.com.br/nossos-planos/" TargetMode="Externa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Cálculo  Depreciação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228" y="218661"/>
            <a:ext cx="6343650" cy="84174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4000" dirty="0"/>
              <a:t>Incidência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44009" y="2044365"/>
            <a:ext cx="7180548" cy="1871654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1800" dirty="0">
                <a:latin typeface="Aptos" panose="020B0004020202020204" pitchFamily="34" charset="0"/>
              </a:rPr>
              <a:t>No Escritório de Contabilidade, depreciação incide sobre </a:t>
            </a:r>
            <a:r>
              <a:rPr lang="pt-BR" sz="1800" b="1" dirty="0">
                <a:latin typeface="Aptos" panose="020B0004020202020204" pitchFamily="34" charset="0"/>
              </a:rPr>
              <a:t>Computadores e Móveis</a:t>
            </a:r>
            <a:r>
              <a:rPr lang="pt-BR" sz="1800" dirty="0">
                <a:latin typeface="Aptos" panose="020B0004020202020204" pitchFamily="34" charset="0"/>
              </a:rPr>
              <a:t>, mas com velocidades diferentes. </a:t>
            </a:r>
            <a:br>
              <a:rPr lang="pt-BR" sz="1800" dirty="0">
                <a:latin typeface="Aptos" panose="020B0004020202020204" pitchFamily="34" charset="0"/>
              </a:rPr>
            </a:br>
            <a:r>
              <a:rPr lang="pt-BR" sz="1800" dirty="0">
                <a:latin typeface="Aptos" panose="020B0004020202020204" pitchFamily="34" charset="0"/>
              </a:rPr>
              <a:t>Na contabilidade, cada tipo de bem tem uma "vida útil" estimada pela Receita Federal (Instrução Normativa RFB nº 1.700/2017).</a:t>
            </a:r>
            <a:br>
              <a:rPr lang="pt-BR" sz="2000" dirty="0">
                <a:latin typeface="Aptos" panose="020B0004020202020204" pitchFamily="34" charset="0"/>
              </a:rPr>
            </a:br>
            <a:endParaRPr lang="pt-BR" sz="2000" dirty="0">
              <a:effectLst/>
              <a:latin typeface="Aptos" panose="020B0004020202020204" pitchFamily="34" charset="0"/>
            </a:endParaRP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1CF261ED-9DCF-93A6-1E63-FDE8EB681DB3}"/>
              </a:ext>
            </a:extLst>
          </p:cNvPr>
          <p:cNvSpPr txBox="1">
            <a:spLocks/>
          </p:cNvSpPr>
          <p:nvPr/>
        </p:nvSpPr>
        <p:spPr>
          <a:xfrm>
            <a:off x="4244009" y="3779029"/>
            <a:ext cx="7180548" cy="1871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pt-B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Aptos" panose="020B0004020202020204" pitchFamily="34" charset="0"/>
              </a:rPr>
              <a:t>Taxas anuais padrão: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Computadores e Periféricos:</a:t>
            </a:r>
            <a:r>
              <a:rPr lang="pt-BR" sz="2000" dirty="0">
                <a:latin typeface="Aptos" panose="020B0004020202020204" pitchFamily="34" charset="0"/>
              </a:rPr>
              <a:t> 20% ao ano (vida útil de 5 anos).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Móveis e Utensílios:</a:t>
            </a:r>
            <a:r>
              <a:rPr lang="pt-BR" sz="2000" dirty="0">
                <a:latin typeface="Aptos" panose="020B0004020202020204" pitchFamily="34" charset="0"/>
              </a:rPr>
              <a:t> 10% ao ano (vida útil de 10 anos).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127B4-9142-92DB-FB19-9D298653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B79A9-94CF-BE48-72CD-2B07DA20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167" y="136525"/>
            <a:ext cx="10759937" cy="84174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200" dirty="0"/>
              <a:t>Cálculo da Depreciação Trimestral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5C4A78-D8A7-C00B-ABB3-3C07A8855AA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517749" y="1616980"/>
            <a:ext cx="7180548" cy="3842699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2000" dirty="0">
                <a:latin typeface="Aptos" panose="020B0004020202020204" pitchFamily="34" charset="0"/>
              </a:rPr>
              <a:t>Como o abriu em </a:t>
            </a:r>
            <a:r>
              <a:rPr lang="pt-BR" sz="2000" b="1" dirty="0">
                <a:latin typeface="Aptos" panose="020B0004020202020204" pitchFamily="34" charset="0"/>
              </a:rPr>
              <a:t>06 de janeiro</a:t>
            </a:r>
            <a:r>
              <a:rPr lang="pt-BR" sz="2000" dirty="0">
                <a:latin typeface="Aptos" panose="020B0004020202020204" pitchFamily="34" charset="0"/>
              </a:rPr>
              <a:t>, foi calculado a depreciação proporcional aos 3 meses do primeiro trimestre: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Computadores (R$ 8.298,00):</a:t>
            </a:r>
            <a:endParaRPr lang="pt-BR" sz="2000" dirty="0">
              <a:latin typeface="Aptos" panose="020B0004020202020204" pitchFamily="34" charset="0"/>
            </a:endParaRPr>
          </a:p>
          <a:p>
            <a:pPr lvl="1"/>
            <a:r>
              <a:rPr lang="pt-BR" sz="2000" dirty="0">
                <a:latin typeface="Aptos" panose="020B0004020202020204" pitchFamily="34" charset="0"/>
              </a:rPr>
              <a:t>Anual: $8.298 *20% = R$ 1.659,60</a:t>
            </a:r>
          </a:p>
          <a:p>
            <a:pPr lvl="1"/>
            <a:r>
              <a:rPr lang="pt-BR" sz="2000" dirty="0">
                <a:latin typeface="Aptos" panose="020B0004020202020204" pitchFamily="34" charset="0"/>
              </a:rPr>
              <a:t>Trimestral: $1.659,60/4 = R$ 414,90 </a:t>
            </a:r>
            <a:r>
              <a:rPr lang="pt-BR" sz="2000" dirty="0">
                <a:solidFill>
                  <a:srgbClr val="002060"/>
                </a:solidFill>
                <a:latin typeface="Aptos" panose="020B0004020202020204" pitchFamily="34" charset="0"/>
              </a:rPr>
              <a:t>($138,30/mês)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Móveis (R$ 7.260,00):</a:t>
            </a:r>
            <a:endParaRPr lang="pt-BR" sz="2000" dirty="0">
              <a:latin typeface="Aptos" panose="020B0004020202020204" pitchFamily="34" charset="0"/>
            </a:endParaRPr>
          </a:p>
          <a:p>
            <a:pPr lvl="1"/>
            <a:r>
              <a:rPr lang="pt-BR" sz="2000" dirty="0">
                <a:latin typeface="Aptos" panose="020B0004020202020204" pitchFamily="34" charset="0"/>
              </a:rPr>
              <a:t>Anual: $7.260*10% = R$ 726,00</a:t>
            </a:r>
          </a:p>
          <a:p>
            <a:pPr lvl="1"/>
            <a:r>
              <a:rPr lang="pt-BR" sz="2000" dirty="0">
                <a:latin typeface="Aptos" panose="020B0004020202020204" pitchFamily="34" charset="0"/>
              </a:rPr>
              <a:t>Trimestral: $726/4 = R$ 181,50 </a:t>
            </a:r>
            <a:r>
              <a:rPr lang="pt-BR" sz="2000" dirty="0">
                <a:solidFill>
                  <a:srgbClr val="002060"/>
                </a:solidFill>
                <a:latin typeface="Aptos" panose="020B0004020202020204" pitchFamily="34" charset="0"/>
              </a:rPr>
              <a:t>($60,50/mês)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Total de Depreciação no Trimestre: R$ 596,40. </a:t>
            </a:r>
            <a:r>
              <a:rPr lang="pt-BR" sz="2000" b="1" dirty="0">
                <a:solidFill>
                  <a:srgbClr val="002060"/>
                </a:solidFill>
                <a:latin typeface="Aptos" panose="020B0004020202020204" pitchFamily="34" charset="0"/>
              </a:rPr>
              <a:t>($198,80/mês)</a:t>
            </a:r>
            <a:endParaRPr lang="pt-BR" sz="2000" dirty="0"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CABB98D-3AEA-E041-79AD-7370C942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259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6527A-D32C-8008-3AFF-EBD84865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FBA3C-8945-C0D7-0557-57AF6635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167" y="136525"/>
            <a:ext cx="10759937" cy="84174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200" dirty="0"/>
              <a:t>Lançamento Contábil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FE66A-5EF0-F07F-4129-60050F64459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428296" y="1318807"/>
            <a:ext cx="7180548" cy="4853393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2000" b="1" dirty="0"/>
              <a:t>D – Despesa de Depreciação (DRE)</a:t>
            </a:r>
            <a:endParaRPr lang="pt-BR" sz="2000" dirty="0"/>
          </a:p>
          <a:p>
            <a:r>
              <a:rPr lang="pt-BR" sz="2000" b="1" dirty="0"/>
              <a:t>C – Depreciação Acumulada (Ativo Não Circulante - Redutora)</a:t>
            </a:r>
            <a:endParaRPr lang="pt-BR" sz="2000" dirty="0"/>
          </a:p>
          <a:p>
            <a:r>
              <a:rPr lang="pt-BR" sz="2000" b="1" dirty="0"/>
              <a:t>Valor:</a:t>
            </a:r>
            <a:r>
              <a:rPr lang="pt-BR" sz="2000" dirty="0"/>
              <a:t> R$ 596,40</a:t>
            </a:r>
          </a:p>
          <a:p>
            <a:r>
              <a:rPr lang="pt-BR" sz="2000" i="1" dirty="0"/>
              <a:t>Histórico: Valor ref. a quota de depreciação do 1º trimestre/2025,</a:t>
            </a:r>
            <a:endParaRPr lang="pt-BR" sz="2000" dirty="0"/>
          </a:p>
          <a:p>
            <a:r>
              <a:rPr lang="pt-BR" sz="2000" b="1" dirty="0"/>
              <a:t>Importante:</a:t>
            </a:r>
            <a:r>
              <a:rPr lang="pt-BR" sz="2000" dirty="0"/>
              <a:t> A depreciação é uma </a:t>
            </a:r>
            <a:r>
              <a:rPr lang="pt-BR" sz="2000" i="1" dirty="0"/>
              <a:t>despesa não </a:t>
            </a:r>
            <a:r>
              <a:rPr lang="pt-BR" sz="2000" i="1" dirty="0" err="1"/>
              <a:t>desembolsável</a:t>
            </a:r>
            <a:r>
              <a:rPr lang="pt-BR" sz="2000" i="1" dirty="0"/>
              <a:t> </a:t>
            </a:r>
            <a:r>
              <a:rPr lang="pt-BR" sz="2000" dirty="0"/>
              <a:t>(não sai dinheiro do caixa), por isso o saldo de banco continua inalterado, mas o valor do patrimônio diminui porque os equipamentos estão ficando velhos.</a:t>
            </a:r>
            <a:endParaRPr lang="pt-BR" sz="2000" b="0" dirty="0">
              <a:effectLst/>
            </a:endParaRP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0573D935-7C63-A2D7-4053-6FFEEFAA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171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9B20E-7394-644A-388E-14C52554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87BC3-4703-252A-1EA9-2B0606E2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167" y="136525"/>
            <a:ext cx="10759937" cy="84174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200" dirty="0"/>
              <a:t>Nota: Imobilizado e Depreciação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921E16-5B51-B913-2C71-15EFFCA9DA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507809" y="1418199"/>
            <a:ext cx="7180548" cy="4744062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2000" dirty="0">
                <a:latin typeface="Aptos" panose="020B0004020202020204" pitchFamily="34" charset="0"/>
              </a:rPr>
              <a:t>Os bens do Ativo Não Circulante são registrados pelo custo de aquisição. A depreciação é calculada pelo Método das Quotas Constantes (Linear),</a:t>
            </a:r>
            <a:r>
              <a:rPr lang="pt-BR" sz="2000" b="1" dirty="0">
                <a:latin typeface="Aptos" panose="020B0004020202020204" pitchFamily="34" charset="0"/>
              </a:rPr>
              <a:t> </a:t>
            </a:r>
            <a:r>
              <a:rPr lang="pt-BR" sz="2000" dirty="0">
                <a:latin typeface="Aptos" panose="020B0004020202020204" pitchFamily="34" charset="0"/>
              </a:rPr>
              <a:t>ou seja, de forma uniforme e num valor constante, com base nas taxas anuais permitidas pela Receita Federal: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Máquinas e Equipamentos (Computadores):</a:t>
            </a:r>
            <a:r>
              <a:rPr lang="pt-BR" sz="2000" dirty="0">
                <a:latin typeface="Aptos" panose="020B0004020202020204" pitchFamily="34" charset="0"/>
              </a:rPr>
              <a:t> 20% a.a. (Vida útil de 5 anos).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Móveis e Utensílios:</a:t>
            </a:r>
            <a:r>
              <a:rPr lang="pt-BR" sz="2000" dirty="0">
                <a:latin typeface="Aptos" panose="020B0004020202020204" pitchFamily="34" charset="0"/>
              </a:rPr>
              <a:t> 10% a.a. (Vida útil de 10 anos).</a:t>
            </a:r>
          </a:p>
          <a:p>
            <a:r>
              <a:rPr lang="pt-BR" sz="2000" i="1" dirty="0" err="1">
                <a:latin typeface="Aptos" panose="020B0004020202020204" pitchFamily="34" charset="0"/>
              </a:rPr>
              <a:t>Obs</a:t>
            </a:r>
            <a:r>
              <a:rPr lang="pt-BR" sz="2000" i="1" dirty="0">
                <a:latin typeface="Aptos" panose="020B0004020202020204" pitchFamily="34" charset="0"/>
              </a:rPr>
              <a:t>: No primeiro trimestre, a depreciação foi calculada </a:t>
            </a:r>
            <a:r>
              <a:rPr lang="pt-BR" sz="2000" i="1" dirty="0" err="1">
                <a:latin typeface="Aptos" panose="020B0004020202020204" pitchFamily="34" charset="0"/>
              </a:rPr>
              <a:t>pro-rata</a:t>
            </a:r>
            <a:r>
              <a:rPr lang="pt-BR" sz="2000" i="1" dirty="0">
                <a:latin typeface="Aptos" panose="020B0004020202020204" pitchFamily="34" charset="0"/>
              </a:rPr>
              <a:t> (3 meses).</a:t>
            </a:r>
            <a:endParaRPr lang="pt-BR" sz="2000" dirty="0">
              <a:effectLst/>
              <a:latin typeface="Aptos" panose="020B0004020202020204" pitchFamily="34" charset="0"/>
            </a:endParaRP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5A82064-16D7-8EE8-C720-2DE5F3DF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0247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5400" dirty="0"/>
              <a:t>Custos Totais</a:t>
            </a:r>
          </a:p>
        </p:txBody>
      </p:sp>
      <p:pic>
        <p:nvPicPr>
          <p:cNvPr id="34" name="Espaço Reservado para Imagem 33" descr="Vista aérea de uma interseção de estrada de né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71081-CA14-B4C7-90FC-2246FE00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FDA5EB-7C6A-DA76-1B3D-A076560EEDAE}"/>
              </a:ext>
            </a:extLst>
          </p:cNvPr>
          <p:cNvSpPr/>
          <p:nvPr/>
        </p:nvSpPr>
        <p:spPr>
          <a:xfrm>
            <a:off x="4076120" y="0"/>
            <a:ext cx="81158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0DED79-16B8-F3BB-8287-62519EB11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159" y="454041"/>
            <a:ext cx="7686161" cy="116844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200" dirty="0">
                <a:solidFill>
                  <a:schemeClr val="accent1"/>
                </a:solidFill>
              </a:rPr>
              <a:t>Custos dos Serviços Prestados (CSP)</a:t>
            </a:r>
            <a:endParaRPr lang="pt-BR" sz="3200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34" name="Espaço Reservado para Imagem 33" descr="Vista aérea de uma interseção de estrada de néon">
            <a:extLst>
              <a:ext uri="{FF2B5EF4-FFF2-40B4-BE49-F238E27FC236}">
                <a16:creationId xmlns:a16="http://schemas.microsoft.com/office/drawing/2014/main" id="{D41C385B-C959-7F97-4D5C-1BA39C1260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25AD6D20-09FB-FDBA-FC2A-821AB1D0F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54ADB956-C5D7-9E07-1CE4-643BB4E97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FC72EA-13DD-2F49-1A9F-3AC8EDEEE529}"/>
              </a:ext>
            </a:extLst>
          </p:cNvPr>
          <p:cNvSpPr txBox="1"/>
          <p:nvPr/>
        </p:nvSpPr>
        <p:spPr>
          <a:xfrm>
            <a:off x="4716237" y="2126974"/>
            <a:ext cx="65001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pt-BR" sz="2800" dirty="0"/>
              <a:t> Salário Assist. Técnico + Encargos </a:t>
            </a:r>
            <a:r>
              <a:rPr lang="pt-BR" sz="2400" dirty="0"/>
              <a:t>(FGTS/Provisões).</a:t>
            </a:r>
            <a:br>
              <a:rPr lang="pt-BR" sz="2800" dirty="0"/>
            </a:br>
            <a:endParaRPr lang="pt-BR" sz="28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pt-BR" sz="2800" dirty="0"/>
              <a:t> Sistema Contábil (ferramenta de produção).</a:t>
            </a:r>
            <a:br>
              <a:rPr lang="pt-BR" sz="2800" dirty="0"/>
            </a:br>
            <a:endParaRPr lang="pt-BR" sz="28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pt-BR" sz="2800" dirty="0"/>
              <a:t> Pró-labore do sócio (Contador).</a:t>
            </a:r>
            <a:endParaRPr lang="pt-BR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60780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E9EB-44EB-C275-06BB-63505515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Espaço Reservado para Imagem 33" descr="Vista aérea de uma interseção de estrada de néon">
            <a:extLst>
              <a:ext uri="{FF2B5EF4-FFF2-40B4-BE49-F238E27FC236}">
                <a16:creationId xmlns:a16="http://schemas.microsoft.com/office/drawing/2014/main" id="{70C72F04-43D0-FEBB-E100-C6BAF8BF5B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7600150-3772-A0CC-BCCA-33168AB954D9}"/>
              </a:ext>
            </a:extLst>
          </p:cNvPr>
          <p:cNvSpPr/>
          <p:nvPr/>
        </p:nvSpPr>
        <p:spPr>
          <a:xfrm>
            <a:off x="3403016" y="0"/>
            <a:ext cx="880275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FE5449-9733-C5EA-AC97-7C0AFDBA6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7117" y="454041"/>
            <a:ext cx="7686161" cy="116844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2800" dirty="0">
                <a:solidFill>
                  <a:schemeClr val="accent1"/>
                </a:solidFill>
              </a:rPr>
              <a:t>Salário Assist. Adm. + Encargos</a:t>
            </a:r>
            <a:endParaRPr lang="pt-BR" sz="28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FEFA14-3148-1A0D-405A-8558FB6A7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C947D311-2D13-4006-6D16-F6804BFCF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32C5E238-5672-4A2B-D834-715399B50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396" y="1667055"/>
            <a:ext cx="3908708" cy="1197830"/>
          </a:xfrm>
          <a:prstGeom prst="rect">
            <a:avLst/>
          </a:prstGeom>
        </p:spPr>
      </p:pic>
      <p:sp>
        <p:nvSpPr>
          <p:cNvPr id="15" name="Subtítulo 2">
            <a:extLst>
              <a:ext uri="{FF2B5EF4-FFF2-40B4-BE49-F238E27FC236}">
                <a16:creationId xmlns:a16="http://schemas.microsoft.com/office/drawing/2014/main" id="{9F3F15C5-C86E-3FB6-B8DF-C482B3618EAF}"/>
              </a:ext>
            </a:extLst>
          </p:cNvPr>
          <p:cNvSpPr txBox="1">
            <a:spLocks/>
          </p:cNvSpPr>
          <p:nvPr/>
        </p:nvSpPr>
        <p:spPr>
          <a:xfrm>
            <a:off x="6690353" y="3113510"/>
            <a:ext cx="5017943" cy="3128263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pt-BR"/>
            </a:defPPr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>
                <a:latin typeface="Aptos" panose="020B0004020202020204" pitchFamily="34" charset="0"/>
              </a:rPr>
              <a:t>1ª Faixa (até R$ 1.518,00):</a:t>
            </a:r>
            <a:endParaRPr lang="pt-BR" sz="1800" dirty="0">
              <a:latin typeface="Aptos" panose="020B0004020202020204" pitchFamily="34" charset="0"/>
            </a:endParaRPr>
          </a:p>
          <a:p>
            <a:pPr lvl="1"/>
            <a:r>
              <a:rPr lang="pt-BR" sz="1800" dirty="0">
                <a:latin typeface="Aptos" panose="020B0004020202020204" pitchFamily="34" charset="0"/>
              </a:rPr>
              <a:t>R$ 1.518,00 x 7,5% = R$ 113,85</a:t>
            </a:r>
          </a:p>
          <a:p>
            <a:r>
              <a:rPr lang="pt-BR" sz="1800" b="1" dirty="0">
                <a:latin typeface="Aptos" panose="020B0004020202020204" pitchFamily="34" charset="0"/>
              </a:rPr>
              <a:t>2ª Faixa (o que sobra do salário):</a:t>
            </a:r>
            <a:endParaRPr lang="pt-BR" sz="1800" dirty="0">
              <a:latin typeface="Aptos" panose="020B0004020202020204" pitchFamily="34" charset="0"/>
            </a:endParaRPr>
          </a:p>
          <a:p>
            <a:pPr lvl="1"/>
            <a:r>
              <a:rPr lang="pt-BR" sz="1800" dirty="0">
                <a:latin typeface="Aptos" panose="020B0004020202020204" pitchFamily="34" charset="0"/>
              </a:rPr>
              <a:t>(R$ 2.181,82 - R$ 1.518,00) = R$ 663,82</a:t>
            </a:r>
          </a:p>
          <a:p>
            <a:pPr lvl="1"/>
            <a:r>
              <a:rPr lang="pt-BR" sz="1800" dirty="0">
                <a:latin typeface="Aptos" panose="020B0004020202020204" pitchFamily="34" charset="0"/>
              </a:rPr>
              <a:t>R$ 663,82 x 9% = R$ 59,74</a:t>
            </a:r>
          </a:p>
          <a:p>
            <a:r>
              <a:rPr lang="pt-BR" sz="1800" b="1" dirty="0">
                <a:latin typeface="Aptos" panose="020B0004020202020204" pitchFamily="34" charset="0"/>
              </a:rPr>
              <a:t>Desc. INSS: </a:t>
            </a:r>
            <a:r>
              <a:rPr lang="pt-BR" sz="1800" dirty="0">
                <a:latin typeface="Aptos" panose="020B0004020202020204" pitchFamily="34" charset="0"/>
              </a:rPr>
              <a:t>(R$113,85 + R$59,74) = </a:t>
            </a:r>
            <a:r>
              <a:rPr lang="pt-BR" sz="1800" b="1" dirty="0">
                <a:latin typeface="Aptos" panose="020B0004020202020204" pitchFamily="34" charset="0"/>
              </a:rPr>
              <a:t>R$ 173,59</a:t>
            </a:r>
            <a:endParaRPr lang="pt-BR" sz="1800" dirty="0">
              <a:effectLst/>
              <a:latin typeface="Aptos" panose="020B00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53BA1F2-95CF-4E40-30F9-2AC109F0B6BB}"/>
              </a:ext>
            </a:extLst>
          </p:cNvPr>
          <p:cNvSpPr txBox="1"/>
          <p:nvPr/>
        </p:nvSpPr>
        <p:spPr>
          <a:xfrm>
            <a:off x="6690353" y="2908241"/>
            <a:ext cx="188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" panose="020B0004020202020204" pitchFamily="34" charset="0"/>
              </a:rPr>
              <a:t>Cálculo INSS: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B749D90-5547-D256-A106-00F9D74FD982}"/>
              </a:ext>
            </a:extLst>
          </p:cNvPr>
          <p:cNvSpPr txBox="1"/>
          <p:nvPr/>
        </p:nvSpPr>
        <p:spPr>
          <a:xfrm>
            <a:off x="3788605" y="5935990"/>
            <a:ext cx="8162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" panose="020B0004020202020204" pitchFamily="34" charset="0"/>
              </a:rPr>
              <a:t>Obs.: IRPF - 2025 =&gt; </a:t>
            </a:r>
            <a:r>
              <a:rPr lang="pt-BR" sz="1400" b="1" dirty="0">
                <a:latin typeface="Aptos" panose="020B0004020202020204" pitchFamily="34" charset="0"/>
              </a:rPr>
              <a:t>Base de Cálculo (R$):</a:t>
            </a:r>
            <a:r>
              <a:rPr lang="pt-BR" sz="1400" dirty="0">
                <a:latin typeface="Aptos" panose="020B0004020202020204" pitchFamily="34" charset="0"/>
              </a:rPr>
              <a:t> Até 2.259,20 - </a:t>
            </a:r>
            <a:r>
              <a:rPr lang="pt-BR" sz="1400" b="1" dirty="0">
                <a:latin typeface="Aptos" panose="020B0004020202020204" pitchFamily="34" charset="0"/>
              </a:rPr>
              <a:t>Alíquota (%):</a:t>
            </a:r>
            <a:r>
              <a:rPr lang="pt-BR" sz="1400" dirty="0">
                <a:latin typeface="Aptos" panose="020B0004020202020204" pitchFamily="34" charset="0"/>
              </a:rPr>
              <a:t> Isento</a:t>
            </a:r>
          </a:p>
          <a:p>
            <a:endParaRPr lang="pt-BR" sz="1400" dirty="0">
              <a:latin typeface="Aptos" panose="020B00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634536-0F28-D74E-1195-888780780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523" y="1667054"/>
            <a:ext cx="2924694" cy="380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72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2409-35BF-14C3-D1DA-427DC6FF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4B2BF3E-94A4-8D26-7045-23100563D163}"/>
              </a:ext>
            </a:extLst>
          </p:cNvPr>
          <p:cNvSpPr/>
          <p:nvPr/>
        </p:nvSpPr>
        <p:spPr>
          <a:xfrm>
            <a:off x="4117298" y="0"/>
            <a:ext cx="81158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C50406-76F3-EDCE-7E28-55BEF4B33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159" y="345527"/>
            <a:ext cx="7686161" cy="104624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200" dirty="0">
                <a:solidFill>
                  <a:schemeClr val="accent1"/>
                </a:solidFill>
              </a:rPr>
              <a:t>Pró Labore + Encargos</a:t>
            </a:r>
            <a:endParaRPr lang="pt-BR" sz="3200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34" name="Espaço Reservado para Imagem 33" descr="Vista aérea de uma interseção de estrada de néon">
            <a:extLst>
              <a:ext uri="{FF2B5EF4-FFF2-40B4-BE49-F238E27FC236}">
                <a16:creationId xmlns:a16="http://schemas.microsoft.com/office/drawing/2014/main" id="{0981A597-F6E6-7EF8-48DA-D79C23F7B51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D930FCB7-6DC8-5A63-01D8-2D62202E9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1D9040D2-5C11-F86C-80D1-1700B32F0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9CFB31-BD9D-9561-3C7D-F3116EAAA5E7}"/>
              </a:ext>
            </a:extLst>
          </p:cNvPr>
          <p:cNvSpPr txBox="1"/>
          <p:nvPr/>
        </p:nvSpPr>
        <p:spPr>
          <a:xfrm>
            <a:off x="4552728" y="3429000"/>
            <a:ext cx="72450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effectLst/>
              </a:rPr>
              <a:t>2</a:t>
            </a:r>
            <a:r>
              <a:rPr lang="pt-BR" b="1" dirty="0">
                <a:effectLst/>
                <a:latin typeface="Aptos" panose="020B0004020202020204" pitchFamily="34" charset="0"/>
              </a:rPr>
              <a:t>. </a:t>
            </a:r>
            <a:r>
              <a:rPr lang="pt-BR" sz="1600" b="1" dirty="0">
                <a:effectLst/>
                <a:latin typeface="Aptos" panose="020B0004020202020204" pitchFamily="34" charset="0"/>
              </a:rPr>
              <a:t>IRPF - </a:t>
            </a:r>
            <a:r>
              <a:rPr lang="pt-BR" sz="1600" b="1" dirty="0">
                <a:latin typeface="Aptos" panose="020B0004020202020204" pitchFamily="34" charset="0"/>
              </a:rPr>
              <a:t>Desconto Simplificado Mensal:</a:t>
            </a:r>
            <a:r>
              <a:rPr lang="pt-BR" sz="1600" dirty="0">
                <a:latin typeface="Aptos" panose="020B0004020202020204" pitchFamily="34" charset="0"/>
              </a:rPr>
              <a:t> </a:t>
            </a:r>
            <a:r>
              <a:rPr lang="pt-BR" dirty="0">
                <a:latin typeface="Aptos" panose="020B0004020202020204" pitchFamily="34" charset="0"/>
              </a:rPr>
              <a:t>A Receita Federal permite um redutor fixo (desconto simplificado) de R$ 607,20 (valor atualizado para 2025/2026) sobre a base de cálculo.</a:t>
            </a:r>
          </a:p>
          <a:p>
            <a:endParaRPr lang="pt-BR" dirty="0">
              <a:latin typeface="Aptos" panose="020B0004020202020204" pitchFamily="34" charset="0"/>
            </a:endParaRPr>
          </a:p>
          <a:p>
            <a:r>
              <a:rPr lang="pt-BR" dirty="0">
                <a:latin typeface="Aptos" panose="020B0004020202020204" pitchFamily="34" charset="0"/>
              </a:rPr>
              <a:t>Cálculo da Isenção:</a:t>
            </a:r>
          </a:p>
          <a:p>
            <a:pPr lvl="1"/>
            <a:r>
              <a:rPr lang="pt-BR" dirty="0">
                <a:latin typeface="Aptos" panose="020B0004020202020204" pitchFamily="34" charset="0"/>
              </a:rPr>
              <a:t>Rendimento</a:t>
            </a:r>
            <a:r>
              <a:rPr lang="pt-BR" sz="1600" dirty="0">
                <a:latin typeface="Aptos" panose="020B0004020202020204" pitchFamily="34" charset="0"/>
              </a:rPr>
              <a:t>: </a:t>
            </a:r>
            <a:r>
              <a:rPr lang="pt-BR" sz="1600" b="1" dirty="0">
                <a:latin typeface="Aptos" panose="020B0004020202020204" pitchFamily="34" charset="0"/>
              </a:rPr>
              <a:t>R$ 2.670,00</a:t>
            </a:r>
            <a:endParaRPr lang="pt-BR" sz="1600" dirty="0">
              <a:latin typeface="Aptos" panose="020B0004020202020204" pitchFamily="34" charset="0"/>
            </a:endParaRPr>
          </a:p>
          <a:p>
            <a:pPr lvl="1"/>
            <a:r>
              <a:rPr lang="pt-BR" dirty="0">
                <a:latin typeface="Aptos" panose="020B0004020202020204" pitchFamily="34" charset="0"/>
              </a:rPr>
              <a:t>(-) Desconto Simplificado: </a:t>
            </a:r>
            <a:r>
              <a:rPr lang="pt-BR" sz="1600" b="1" dirty="0">
                <a:latin typeface="Aptos" panose="020B0004020202020204" pitchFamily="34" charset="0"/>
              </a:rPr>
              <a:t>R$ 607,20</a:t>
            </a:r>
            <a:endParaRPr lang="pt-BR" sz="1600" dirty="0">
              <a:latin typeface="Aptos" panose="020B0004020202020204" pitchFamily="34" charset="0"/>
            </a:endParaRPr>
          </a:p>
          <a:p>
            <a:pPr lvl="1"/>
            <a:r>
              <a:rPr lang="pt-BR" dirty="0">
                <a:latin typeface="Aptos" panose="020B0004020202020204" pitchFamily="34" charset="0"/>
              </a:rPr>
              <a:t>Base de Cálculo Final: </a:t>
            </a:r>
            <a:r>
              <a:rPr lang="pt-BR" sz="1600" b="1" dirty="0">
                <a:latin typeface="Aptos" panose="020B0004020202020204" pitchFamily="34" charset="0"/>
              </a:rPr>
              <a:t>R$ 2.062,80</a:t>
            </a:r>
            <a:r>
              <a:rPr lang="pt-BR" sz="1600" dirty="0">
                <a:latin typeface="Aptos" panose="020B0004020202020204" pitchFamily="34" charset="0"/>
              </a:rPr>
              <a:t> </a:t>
            </a:r>
          </a:p>
          <a:p>
            <a:pPr lvl="1"/>
            <a:endParaRPr lang="pt-BR" dirty="0"/>
          </a:p>
          <a:p>
            <a:endParaRPr lang="pt-BR" b="0" dirty="0">
              <a:effectLst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19834F-347B-95F8-62E8-6B150B849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682" y="1874681"/>
            <a:ext cx="3476284" cy="149660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ADD8D98-2967-B704-8E8D-4DE99EF67995}"/>
              </a:ext>
            </a:extLst>
          </p:cNvPr>
          <p:cNvSpPr txBox="1"/>
          <p:nvPr/>
        </p:nvSpPr>
        <p:spPr>
          <a:xfrm>
            <a:off x="4552728" y="5989253"/>
            <a:ext cx="6917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" panose="020B0004020202020204" pitchFamily="34" charset="0"/>
              </a:rPr>
              <a:t>Obs.: IRPF - 2025 =&gt; </a:t>
            </a:r>
            <a:r>
              <a:rPr lang="pt-BR" sz="1400" b="1" dirty="0">
                <a:latin typeface="Aptos" panose="020B0004020202020204" pitchFamily="34" charset="0"/>
              </a:rPr>
              <a:t>Base de Cálculo (R$):</a:t>
            </a:r>
            <a:r>
              <a:rPr lang="pt-BR" sz="1400" dirty="0">
                <a:latin typeface="Aptos" panose="020B0004020202020204" pitchFamily="34" charset="0"/>
              </a:rPr>
              <a:t> Até 2.259,20 - </a:t>
            </a:r>
            <a:r>
              <a:rPr lang="pt-BR" sz="1400" b="1" dirty="0">
                <a:latin typeface="Aptos" panose="020B0004020202020204" pitchFamily="34" charset="0"/>
              </a:rPr>
              <a:t>Alíquota (%):</a:t>
            </a:r>
            <a:r>
              <a:rPr lang="pt-BR" sz="1400" dirty="0">
                <a:latin typeface="Aptos" panose="020B0004020202020204" pitchFamily="34" charset="0"/>
              </a:rPr>
              <a:t> Isento</a:t>
            </a:r>
          </a:p>
          <a:p>
            <a:endParaRPr lang="pt-BR" sz="1400" dirty="0">
              <a:latin typeface="Aptos" panose="020B00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9FBA94-142A-2B70-0589-F74DEBCD8B5F}"/>
              </a:ext>
            </a:extLst>
          </p:cNvPr>
          <p:cNvSpPr txBox="1"/>
          <p:nvPr/>
        </p:nvSpPr>
        <p:spPr>
          <a:xfrm>
            <a:off x="4527983" y="1240344"/>
            <a:ext cx="63212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" panose="020B0004020202020204" pitchFamily="34" charset="0"/>
              </a:rPr>
              <a:t>Pró-labore de R$ 3.000,00</a:t>
            </a:r>
            <a:r>
              <a:rPr lang="pt-BR" sz="1600" b="1" dirty="0">
                <a:latin typeface="Aptos" panose="020B0004020202020204" pitchFamily="34" charset="0"/>
              </a:rPr>
              <a:t>, </a:t>
            </a:r>
            <a:r>
              <a:rPr lang="pt-BR" sz="1600" dirty="0">
                <a:latin typeface="Aptos" panose="020B0004020202020204" pitchFamily="34" charset="0"/>
              </a:rPr>
              <a:t>escritório de contabilidade (Anexo III do Simples Nacional), cálculo em 2025: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268C8DF-C881-0538-2ED9-EB73F8999B63}"/>
              </a:ext>
            </a:extLst>
          </p:cNvPr>
          <p:cNvSpPr txBox="1"/>
          <p:nvPr/>
        </p:nvSpPr>
        <p:spPr>
          <a:xfrm>
            <a:off x="8518628" y="1994204"/>
            <a:ext cx="3347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sz="1600" b="1" dirty="0">
                <a:latin typeface="Aptos" panose="020B0004020202020204" pitchFamily="34" charset="0"/>
              </a:rPr>
              <a:t>Desconto de INSS (Fixo em 11%)</a:t>
            </a:r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ACF9745A-C6A3-2622-1EE5-05775981173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83759" y="2419845"/>
            <a:ext cx="500691" cy="3737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92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E6E8-9908-5711-C7B4-A158EF454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4314556-DAD7-8682-238C-C4653474D3C4}"/>
              </a:ext>
            </a:extLst>
          </p:cNvPr>
          <p:cNvSpPr/>
          <p:nvPr/>
        </p:nvSpPr>
        <p:spPr>
          <a:xfrm>
            <a:off x="4076120" y="0"/>
            <a:ext cx="81158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704CF7-B624-8199-18EE-9A5F79797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7843" y="76179"/>
            <a:ext cx="7686161" cy="116844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200" dirty="0">
                <a:solidFill>
                  <a:schemeClr val="accent1"/>
                </a:solidFill>
              </a:rPr>
              <a:t>Sistema Contábil</a:t>
            </a:r>
            <a:endParaRPr lang="pt-BR" sz="3200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34" name="Espaço Reservado para Imagem 33" descr="Vista aérea de uma interseção de estrada de néon">
            <a:extLst>
              <a:ext uri="{FF2B5EF4-FFF2-40B4-BE49-F238E27FC236}">
                <a16:creationId xmlns:a16="http://schemas.microsoft.com/office/drawing/2014/main" id="{3848B3B0-B80D-9AB7-3B18-FDCC4851F9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B382D43-E396-89D8-DB0D-97EC944E0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0980C6DB-36D1-9E70-378E-F54592F02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00250F1D-1D3F-2D83-CB72-BB833F379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440" y="1030696"/>
            <a:ext cx="7347708" cy="479660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59B8E84-4081-4734-F60E-6A0C7EAD6C10}"/>
              </a:ext>
            </a:extLst>
          </p:cNvPr>
          <p:cNvSpPr txBox="1"/>
          <p:nvPr/>
        </p:nvSpPr>
        <p:spPr>
          <a:xfrm>
            <a:off x="4585252" y="5973320"/>
            <a:ext cx="4939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Obs.:</a:t>
            </a:r>
            <a:r>
              <a:rPr lang="pt-BR" sz="1000" dirty="0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https://makrosystem.com.br/nossos-planos/</a:t>
            </a:r>
            <a:r>
              <a:rPr lang="pt-BR" sz="1000" dirty="0"/>
              <a:t>   </a:t>
            </a:r>
            <a:r>
              <a:rPr lang="pt-BR" sz="1000" dirty="0">
                <a:solidFill>
                  <a:schemeClr val="accent1"/>
                </a:solidFill>
              </a:rPr>
              <a:t>acesso em 03/2026</a:t>
            </a:r>
          </a:p>
        </p:txBody>
      </p:sp>
      <p:sp>
        <p:nvSpPr>
          <p:cNvPr id="9" name="Seta: Curva para a Esquerda 8">
            <a:extLst>
              <a:ext uri="{FF2B5EF4-FFF2-40B4-BE49-F238E27FC236}">
                <a16:creationId xmlns:a16="http://schemas.microsoft.com/office/drawing/2014/main" id="{5A88BA6F-ED8E-0DAA-C71D-3E81B9455968}"/>
              </a:ext>
            </a:extLst>
          </p:cNvPr>
          <p:cNvSpPr/>
          <p:nvPr/>
        </p:nvSpPr>
        <p:spPr>
          <a:xfrm rot="8172187">
            <a:off x="5969666" y="4477348"/>
            <a:ext cx="1143626" cy="1108380"/>
          </a:xfrm>
          <a:prstGeom prst="curved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743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5215" y="2327751"/>
            <a:ext cx="6594768" cy="144117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Impostos: Simples nacional</a:t>
            </a:r>
          </a:p>
        </p:txBody>
      </p:sp>
      <p:pic>
        <p:nvPicPr>
          <p:cNvPr id="13" name="Espaço Reservado para Imagem 12" descr="Vista de baixo ângulo de edifícios alto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2DAF3-4925-6254-5639-249BC78F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42E807E-CEEB-7BA5-C5F0-15846A08BE36}"/>
              </a:ext>
            </a:extLst>
          </p:cNvPr>
          <p:cNvSpPr/>
          <p:nvPr/>
        </p:nvSpPr>
        <p:spPr>
          <a:xfrm>
            <a:off x="4076118" y="0"/>
            <a:ext cx="811588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43853C-C72C-175D-628F-348C3183C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6372" y="238537"/>
            <a:ext cx="6594768" cy="70567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2800" dirty="0">
                <a:solidFill>
                  <a:schemeClr val="accent1"/>
                </a:solidFill>
              </a:rPr>
              <a:t>RBT12 e a Faixa de Faturamento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24EF72-25FB-F890-3C26-9C87F40EB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1243" y="1258774"/>
            <a:ext cx="7301985" cy="545081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  <a:t>O cálculo definitivo utiliza a fórmula: </a:t>
            </a:r>
          </a:p>
          <a:p>
            <a:pPr rtl="0"/>
            <a:endParaRPr lang="pt-BR" sz="1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pt-BR" sz="1800" b="1" u="sng" dirty="0">
                <a:solidFill>
                  <a:schemeClr val="tx1"/>
                </a:solidFill>
                <a:latin typeface="Aptos" panose="020B0004020202020204" pitchFamily="34" charset="0"/>
              </a:rPr>
              <a:t>Alíquota Efetiva</a:t>
            </a:r>
            <a:r>
              <a:rPr lang="pt-BR" sz="1800" b="1" dirty="0">
                <a:solidFill>
                  <a:schemeClr val="tx1"/>
                </a:solidFill>
                <a:latin typeface="Aptos" panose="020B0004020202020204" pitchFamily="34" charset="0"/>
              </a:rPr>
              <a:t>:</a:t>
            </a:r>
            <a: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  <a:t> O resultado da fórmula é a alíquota real que</a:t>
            </a:r>
            <a:b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  <a:t>incidirá sobre o faturamento do mês, que é menor que a nominal.</a:t>
            </a:r>
            <a:b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pt-BR" sz="1800" b="1" u="sng" dirty="0">
                <a:solidFill>
                  <a:schemeClr val="tx1"/>
                </a:solidFill>
                <a:latin typeface="Aptos" panose="020B0004020202020204" pitchFamily="34" charset="0"/>
              </a:rPr>
              <a:t>RBT12</a:t>
            </a:r>
            <a:r>
              <a:rPr lang="pt-BR" sz="1800" b="1" dirty="0">
                <a:solidFill>
                  <a:schemeClr val="tx1"/>
                </a:solidFill>
                <a:latin typeface="Aptos" panose="020B0004020202020204" pitchFamily="34" charset="0"/>
              </a:rPr>
              <a:t>:</a:t>
            </a:r>
            <a: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  <a:t> Receita Bruta Total acumulada nos últimos 12 meses anteriores ao período de apuração.</a:t>
            </a:r>
            <a:b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pt-BR" sz="1800" b="1" u="sng" dirty="0">
                <a:solidFill>
                  <a:schemeClr val="tx1"/>
                </a:solidFill>
                <a:latin typeface="Aptos" panose="020B0004020202020204" pitchFamily="34" charset="0"/>
              </a:rPr>
              <a:t>Periodicidade de Apuração</a:t>
            </a:r>
            <a:r>
              <a:rPr lang="pt-BR" sz="1800" b="1" dirty="0">
                <a:solidFill>
                  <a:schemeClr val="tx1"/>
                </a:solidFill>
                <a:latin typeface="Aptos" panose="020B0004020202020204" pitchFamily="34" charset="0"/>
              </a:rPr>
              <a:t>:</a:t>
            </a:r>
            <a: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  <a:t> Mensal.</a:t>
            </a:r>
            <a:b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pt-BR" sz="1800" b="1" u="sng" dirty="0">
                <a:solidFill>
                  <a:schemeClr val="tx1"/>
                </a:solidFill>
                <a:latin typeface="Aptos" panose="020B0004020202020204" pitchFamily="34" charset="0"/>
              </a:rPr>
              <a:t>Base de Cálculo </a:t>
            </a:r>
            <a:r>
              <a:rPr lang="pt-BR" sz="1800" b="1" dirty="0">
                <a:solidFill>
                  <a:schemeClr val="tx1"/>
                </a:solidFill>
                <a:latin typeface="Aptos" panose="020B0004020202020204" pitchFamily="34" charset="0"/>
              </a:rPr>
              <a:t>(Alíquota):</a:t>
            </a:r>
            <a: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  <a:t> RBT12 (Média dos últimos 12 meses).</a:t>
            </a:r>
            <a:b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pt-BR" sz="1800" b="1" u="sng" dirty="0">
                <a:solidFill>
                  <a:schemeClr val="tx1"/>
                </a:solidFill>
                <a:latin typeface="Aptos" panose="020B0004020202020204" pitchFamily="34" charset="0"/>
              </a:rPr>
              <a:t>Base de Cálculo </a:t>
            </a:r>
            <a:r>
              <a:rPr lang="pt-BR" sz="1800" b="1" dirty="0">
                <a:solidFill>
                  <a:schemeClr val="tx1"/>
                </a:solidFill>
                <a:latin typeface="Aptos" panose="020B0004020202020204" pitchFamily="34" charset="0"/>
              </a:rPr>
              <a:t>(Imposto):</a:t>
            </a:r>
            <a: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  <a:t> RB do mês  (Regime de Competência).</a:t>
            </a:r>
          </a:p>
          <a:p>
            <a:r>
              <a:rPr lang="pt-BR" sz="1400" b="1" dirty="0">
                <a:solidFill>
                  <a:srgbClr val="FF0000"/>
                </a:solidFill>
                <a:latin typeface="Aptos" panose="020B0004020202020204" pitchFamily="34" charset="0"/>
              </a:rPr>
              <a:t>Obs</a:t>
            </a:r>
            <a:r>
              <a:rPr lang="pt-BR" sz="1200" b="1" dirty="0">
                <a:solidFill>
                  <a:schemeClr val="tx1"/>
                </a:solidFill>
                <a:latin typeface="Aptos" panose="020B0004020202020204" pitchFamily="34" charset="0"/>
              </a:rPr>
              <a:t>.:</a:t>
            </a:r>
            <a:r>
              <a:rPr lang="pt-BR" sz="1200" dirty="0">
                <a:solidFill>
                  <a:schemeClr val="tx1"/>
                </a:solidFill>
                <a:latin typeface="Aptos" panose="020B0004020202020204" pitchFamily="34" charset="0"/>
              </a:rPr>
              <a:t> Como a empresa é nova, o cálculo do RBT12 nos primeiros meses é feito por proporcionalidade (multiplica-se o faturamento do primeiro mês por 12 para achar a primeira alíquota).</a:t>
            </a:r>
          </a:p>
          <a:p>
            <a:br>
              <a:rPr lang="pt-BR" sz="1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pt-BR" sz="1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rtl="0"/>
            <a:endParaRPr lang="pt-BR" sz="16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13" name="Espaço Reservado para Imagem 12" descr="Vista de baixo ângulo de edifícios altos">
            <a:extLst>
              <a:ext uri="{FF2B5EF4-FFF2-40B4-BE49-F238E27FC236}">
                <a16:creationId xmlns:a16="http://schemas.microsoft.com/office/drawing/2014/main" id="{0D8FFCB4-4B14-C6EA-574F-108A8AEC5C5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27CDAC12-B83F-4A78-7AB1-66389B548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1FCFADEE-6D1B-0766-2DDD-80620528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68C806DB-7056-B6E5-C283-BB7ED97C7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526" y="1750734"/>
            <a:ext cx="4991797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8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A43D3EE-9B31-A592-CE8C-4AAC16E2C3DE}"/>
              </a:ext>
            </a:extLst>
          </p:cNvPr>
          <p:cNvSpPr/>
          <p:nvPr/>
        </p:nvSpPr>
        <p:spPr>
          <a:xfrm>
            <a:off x="0" y="0"/>
            <a:ext cx="810039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731" y="436606"/>
            <a:ext cx="6589150" cy="763723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pPr algn="ctr"/>
            <a:r>
              <a:rPr lang="pt-BR" sz="3600" dirty="0">
                <a:solidFill>
                  <a:schemeClr val="accent1"/>
                </a:solidFill>
              </a:rPr>
              <a:t>Tabela Anexo III </a:t>
            </a:r>
            <a:br>
              <a:rPr lang="pt-BR" sz="2800" dirty="0">
                <a:solidFill>
                  <a:schemeClr val="accent1"/>
                </a:solidFill>
              </a:rPr>
            </a:br>
            <a:r>
              <a:rPr lang="pt-BR" sz="1800" dirty="0">
                <a:solidFill>
                  <a:schemeClr val="accent1"/>
                </a:solidFill>
              </a:rPr>
              <a:t>(Atualizada 2025/2026)</a:t>
            </a:r>
            <a:endParaRPr lang="pt-BR" sz="18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13</a:t>
            </a:fld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D7BF96F-992F-96E6-74C7-7C9C5BA58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289176"/>
              </p:ext>
            </p:extLst>
          </p:nvPr>
        </p:nvGraphicFramePr>
        <p:xfrm>
          <a:off x="704020" y="1200329"/>
          <a:ext cx="6692347" cy="3164096"/>
        </p:xfrm>
        <a:graphic>
          <a:graphicData uri="http://schemas.openxmlformats.org/drawingml/2006/table">
            <a:tbl>
              <a:tblPr/>
              <a:tblGrid>
                <a:gridCol w="551430">
                  <a:extLst>
                    <a:ext uri="{9D8B030D-6E8A-4147-A177-3AD203B41FA5}">
                      <a16:colId xmlns:a16="http://schemas.microsoft.com/office/drawing/2014/main" val="3984649944"/>
                    </a:ext>
                  </a:extLst>
                </a:gridCol>
                <a:gridCol w="2732082">
                  <a:extLst>
                    <a:ext uri="{9D8B030D-6E8A-4147-A177-3AD203B41FA5}">
                      <a16:colId xmlns:a16="http://schemas.microsoft.com/office/drawing/2014/main" val="572221219"/>
                    </a:ext>
                  </a:extLst>
                </a:gridCol>
                <a:gridCol w="1478833">
                  <a:extLst>
                    <a:ext uri="{9D8B030D-6E8A-4147-A177-3AD203B41FA5}">
                      <a16:colId xmlns:a16="http://schemas.microsoft.com/office/drawing/2014/main" val="1699318475"/>
                    </a:ext>
                  </a:extLst>
                </a:gridCol>
                <a:gridCol w="1930002">
                  <a:extLst>
                    <a:ext uri="{9D8B030D-6E8A-4147-A177-3AD203B41FA5}">
                      <a16:colId xmlns:a16="http://schemas.microsoft.com/office/drawing/2014/main" val="213736175"/>
                    </a:ext>
                  </a:extLst>
                </a:gridCol>
              </a:tblGrid>
              <a:tr h="760598"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1">
                          <a:effectLst/>
                          <a:latin typeface="Aptos" panose="020B0004020202020204" pitchFamily="34" charset="0"/>
                        </a:rPr>
                        <a:t>Faixa 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1">
                          <a:effectLst/>
                          <a:latin typeface="Aptos" panose="020B0004020202020204" pitchFamily="34" charset="0"/>
                        </a:rPr>
                        <a:t>Receita Bruta 12 meses (RBT12)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1">
                          <a:effectLst/>
                          <a:latin typeface="Aptos" panose="020B0004020202020204" pitchFamily="34" charset="0"/>
                        </a:rPr>
                        <a:t>Alíquota Nominal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1">
                          <a:effectLst/>
                          <a:latin typeface="Aptos" panose="020B0004020202020204" pitchFamily="34" charset="0"/>
                        </a:rPr>
                        <a:t>Parcela a Deduzir (R$)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263803"/>
                  </a:ext>
                </a:extLst>
              </a:tr>
              <a:tr h="400583"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1ª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Até 180.000,00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 dirty="0">
                          <a:effectLst/>
                          <a:latin typeface="Aptos" panose="020B0004020202020204" pitchFamily="34" charset="0"/>
                        </a:rPr>
                        <a:t>6,00%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229522"/>
                  </a:ext>
                </a:extLst>
              </a:tr>
              <a:tr h="400583"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2ª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180.000,01 a 360.000,00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 dirty="0">
                          <a:effectLst/>
                          <a:latin typeface="Aptos" panose="020B0004020202020204" pitchFamily="34" charset="0"/>
                        </a:rPr>
                        <a:t>11,20%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9.360,00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001503"/>
                  </a:ext>
                </a:extLst>
              </a:tr>
              <a:tr h="400583"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3ª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360.000,01 a 720.000,00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13,50%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17.640,00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372539"/>
                  </a:ext>
                </a:extLst>
              </a:tr>
              <a:tr h="400583"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4ª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720.000,01 a 1.800.000,00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16,00%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35.640,00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223461"/>
                  </a:ext>
                </a:extLst>
              </a:tr>
              <a:tr h="400583"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5ª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1.800.000,01 a 3.600.000,00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21,00%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125.640,00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884236"/>
                  </a:ext>
                </a:extLst>
              </a:tr>
              <a:tr h="400583"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6ª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3.600.000,01 a 4.800.000,00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>
                          <a:effectLst/>
                          <a:latin typeface="Aptos" panose="020B0004020202020204" pitchFamily="34" charset="0"/>
                        </a:rPr>
                        <a:t>33,00%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15000"/>
                        </a:lnSpc>
                        <a:buNone/>
                      </a:pPr>
                      <a:r>
                        <a:rPr lang="pt-BR" sz="1600" b="0" dirty="0">
                          <a:effectLst/>
                          <a:latin typeface="Aptos" panose="020B0004020202020204" pitchFamily="34" charset="0"/>
                        </a:rPr>
                        <a:t>648.000,00</a:t>
                      </a:r>
                    </a:p>
                  </a:txBody>
                  <a:tcPr marL="15240" marR="15240" marT="15240" marB="1524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444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342714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43577187-6797-EAF9-B8A6-1E9A04AD11FF}"/>
              </a:ext>
            </a:extLst>
          </p:cNvPr>
          <p:cNvSpPr txBox="1"/>
          <p:nvPr/>
        </p:nvSpPr>
        <p:spPr>
          <a:xfrm>
            <a:off x="602972" y="4506317"/>
            <a:ext cx="68944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ptos" panose="020B0004020202020204" pitchFamily="34" charset="0"/>
              </a:rPr>
              <a:t>Com faturamento de </a:t>
            </a:r>
            <a:r>
              <a:rPr lang="pt-BR" b="1" dirty="0">
                <a:latin typeface="Aptos" panose="020B0004020202020204" pitchFamily="34" charset="0"/>
              </a:rPr>
              <a:t>R$ 28.120,00 no primeiro trimestre, </a:t>
            </a:r>
            <a:r>
              <a:rPr lang="pt-BR" dirty="0">
                <a:latin typeface="Aptos" panose="020B0004020202020204" pitchFamily="34" charset="0"/>
              </a:rPr>
              <a:t>a média mensal é de </a:t>
            </a:r>
            <a:r>
              <a:rPr lang="pt-BR" b="1" dirty="0">
                <a:latin typeface="Aptos" panose="020B0004020202020204" pitchFamily="34" charset="0"/>
              </a:rPr>
              <a:t>R$ 9.373,33</a:t>
            </a:r>
            <a:r>
              <a:rPr lang="pt-BR" dirty="0">
                <a:latin typeface="Aptos" panose="020B0004020202020204" pitchFamily="34" charset="0"/>
              </a:rPr>
              <a:t>. </a:t>
            </a:r>
            <a:br>
              <a:rPr lang="pt-BR" dirty="0">
                <a:latin typeface="Aptos" panose="020B0004020202020204" pitchFamily="34" charset="0"/>
              </a:rPr>
            </a:b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Como esse valor ao ano (R$9.373,33*12 = R$ 112.480,00) fica abaixo de R$ 180.000,00, usa-se a </a:t>
            </a:r>
            <a:r>
              <a:rPr lang="pt-BR" b="1" dirty="0">
                <a:latin typeface="Aptos" panose="020B0004020202020204" pitchFamily="34" charset="0"/>
              </a:rPr>
              <a:t>1ª faixa do Anexo III</a:t>
            </a:r>
            <a:r>
              <a:rPr lang="pt-BR" dirty="0">
                <a:latin typeface="Aptos" panose="020B0004020202020204" pitchFamily="34" charset="0"/>
              </a:rPr>
              <a:t>, que tem alíquota fixa de </a:t>
            </a:r>
            <a:r>
              <a:rPr lang="pt-BR" b="1" dirty="0">
                <a:latin typeface="Aptos" panose="020B0004020202020204" pitchFamily="34" charset="0"/>
              </a:rPr>
              <a:t>6%</a:t>
            </a:r>
            <a:r>
              <a:rPr lang="pt-BR" dirty="0">
                <a:latin typeface="Aptos" panose="020B0004020202020204" pitchFamily="34" charset="0"/>
              </a:rPr>
              <a:t>.</a:t>
            </a:r>
          </a:p>
          <a:p>
            <a:endParaRPr lang="pt-BR" b="0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38173-E663-B083-B1FC-AAF68510D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4FBC0BB-E244-45BF-2C48-4B512FC97E55}"/>
              </a:ext>
            </a:extLst>
          </p:cNvPr>
          <p:cNvSpPr/>
          <p:nvPr/>
        </p:nvSpPr>
        <p:spPr>
          <a:xfrm>
            <a:off x="0" y="0"/>
            <a:ext cx="810039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056FED-0B80-30C7-0A43-6331D625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520" y="262951"/>
            <a:ext cx="7113350" cy="830301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algn="ctr"/>
            <a:r>
              <a:rPr lang="pt-BR" sz="3000" dirty="0">
                <a:solidFill>
                  <a:schemeClr val="accent1"/>
                </a:solidFill>
                <a:latin typeface="Aptos" panose="020B0004020202020204" pitchFamily="34" charset="0"/>
              </a:rPr>
              <a:t>Cálculo Simples Nacional – DAS</a:t>
            </a:r>
            <a:br>
              <a:rPr lang="pt-BR" sz="3200" dirty="0">
                <a:solidFill>
                  <a:schemeClr val="accent1"/>
                </a:solidFill>
                <a:latin typeface="Aptos" panose="020B0004020202020204" pitchFamily="34" charset="0"/>
              </a:rPr>
            </a:br>
            <a:r>
              <a:rPr lang="pt-BR" sz="2000" dirty="0">
                <a:solidFill>
                  <a:schemeClr val="accent1"/>
                </a:solidFill>
                <a:latin typeface="Aptos" panose="020B0004020202020204" pitchFamily="34" charset="0"/>
              </a:rPr>
              <a:t>(1º Trimestre)</a:t>
            </a:r>
            <a:endParaRPr lang="pt-BR" sz="2000" dirty="0">
              <a:solidFill>
                <a:schemeClr val="accent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E42BB67-589F-196C-A3B4-9F2ABDDC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14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29F935-A7CA-35FE-B723-829D503CCA01}"/>
              </a:ext>
            </a:extLst>
          </p:cNvPr>
          <p:cNvSpPr txBox="1"/>
          <p:nvPr/>
        </p:nvSpPr>
        <p:spPr>
          <a:xfrm>
            <a:off x="420511" y="1093252"/>
            <a:ext cx="76515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ptos" panose="020B0004020202020204" pitchFamily="34" charset="0"/>
              </a:rPr>
              <a:t>Vejamos como o sistema do Simples (PGDAS) calcular o imposto:</a:t>
            </a:r>
          </a:p>
          <a:p>
            <a:br>
              <a:rPr lang="pt-BR" b="1" dirty="0">
                <a:latin typeface="Aptos" panose="020B0004020202020204" pitchFamily="34" charset="0"/>
              </a:rPr>
            </a:br>
            <a:r>
              <a:rPr lang="pt-BR" b="1" dirty="0">
                <a:latin typeface="Aptos" panose="020B0004020202020204" pitchFamily="34" charset="0"/>
              </a:rPr>
              <a:t>1. Janeiro (Mês de Abertura)</a:t>
            </a:r>
          </a:p>
          <a:p>
            <a:r>
              <a:rPr lang="pt-BR" dirty="0">
                <a:latin typeface="Aptos" panose="020B0004020202020204" pitchFamily="34" charset="0"/>
              </a:rPr>
              <a:t>Como não há meses anteriores, a alíquota é definida pelo faturamento 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do próprio mês projetado para 12 meses.</a:t>
            </a:r>
          </a:p>
          <a:p>
            <a:r>
              <a:rPr lang="pt-BR" b="1" dirty="0">
                <a:latin typeface="Aptos" panose="020B0004020202020204" pitchFamily="34" charset="0"/>
              </a:rPr>
              <a:t>Faturamento Jan:</a:t>
            </a:r>
            <a:r>
              <a:rPr lang="pt-BR" dirty="0">
                <a:latin typeface="Aptos" panose="020B0004020202020204" pitchFamily="34" charset="0"/>
              </a:rPr>
              <a:t> R$ 9.373,33</a:t>
            </a:r>
          </a:p>
          <a:p>
            <a:r>
              <a:rPr lang="pt-BR" b="1" dirty="0">
                <a:latin typeface="Aptos" panose="020B0004020202020204" pitchFamily="34" charset="0"/>
              </a:rPr>
              <a:t>Projeção (RBT12):</a:t>
            </a:r>
            <a:r>
              <a:rPr lang="pt-BR" dirty="0">
                <a:latin typeface="Aptos" panose="020B0004020202020204" pitchFamily="34" charset="0"/>
              </a:rPr>
              <a:t> $9.373,33*12 = R$ 112.480,00</a:t>
            </a:r>
          </a:p>
          <a:p>
            <a:r>
              <a:rPr lang="pt-BR" b="1" dirty="0">
                <a:latin typeface="Aptos" panose="020B0004020202020204" pitchFamily="34" charset="0"/>
              </a:rPr>
              <a:t>Imposto Jan:</a:t>
            </a:r>
            <a:r>
              <a:rPr lang="pt-BR" dirty="0">
                <a:latin typeface="Aptos" panose="020B0004020202020204" pitchFamily="34" charset="0"/>
              </a:rPr>
              <a:t> R$ 9.373,33 *6% = </a:t>
            </a:r>
            <a:r>
              <a:rPr lang="pt-BR" b="1" dirty="0">
                <a:latin typeface="Aptos" panose="020B0004020202020204" pitchFamily="34" charset="0"/>
              </a:rPr>
              <a:t>R$ 562,40</a:t>
            </a:r>
            <a:br>
              <a:rPr lang="pt-BR" dirty="0">
                <a:latin typeface="Aptos" panose="020B0004020202020204" pitchFamily="34" charset="0"/>
              </a:rPr>
            </a:br>
            <a:endParaRPr lang="pt-BR" dirty="0">
              <a:latin typeface="Aptos" panose="020B0004020202020204" pitchFamily="34" charset="0"/>
            </a:endParaRPr>
          </a:p>
          <a:p>
            <a:r>
              <a:rPr lang="pt-BR" b="1" dirty="0">
                <a:latin typeface="Aptos" panose="020B0004020202020204" pitchFamily="34" charset="0"/>
              </a:rPr>
              <a:t>2. Fevereiro (2º Mês)</a:t>
            </a:r>
          </a:p>
          <a:p>
            <a:r>
              <a:rPr lang="pt-BR" dirty="0">
                <a:latin typeface="Aptos" panose="020B0004020202020204" pitchFamily="34" charset="0"/>
              </a:rPr>
              <a:t>Usa-se média dos meses anteriores e multiplica-se por 12.</a:t>
            </a:r>
          </a:p>
          <a:p>
            <a:r>
              <a:rPr lang="pt-BR" b="1" dirty="0">
                <a:latin typeface="Aptos" panose="020B0004020202020204" pitchFamily="34" charset="0"/>
              </a:rPr>
              <a:t>Média:</a:t>
            </a:r>
            <a:r>
              <a:rPr lang="pt-BR" dirty="0">
                <a:latin typeface="Aptos" panose="020B0004020202020204" pitchFamily="34" charset="0"/>
              </a:rPr>
              <a:t> R$ 9.373,33 (faturamento de Jan)</a:t>
            </a:r>
          </a:p>
          <a:p>
            <a:r>
              <a:rPr lang="pt-BR" b="1" dirty="0">
                <a:latin typeface="Aptos" panose="020B0004020202020204" pitchFamily="34" charset="0"/>
              </a:rPr>
              <a:t>Projeção (RBT12):</a:t>
            </a:r>
            <a:r>
              <a:rPr lang="pt-BR" dirty="0">
                <a:latin typeface="Aptos" panose="020B0004020202020204" pitchFamily="34" charset="0"/>
              </a:rPr>
              <a:t> $9.373,33 *12 = R$ 112.480,00</a:t>
            </a:r>
          </a:p>
          <a:p>
            <a:r>
              <a:rPr lang="pt-BR" b="1" dirty="0">
                <a:latin typeface="Aptos" panose="020B0004020202020204" pitchFamily="34" charset="0"/>
              </a:rPr>
              <a:t>Alíquota:</a:t>
            </a:r>
            <a:r>
              <a:rPr lang="pt-BR" dirty="0">
                <a:latin typeface="Aptos" panose="020B0004020202020204" pitchFamily="34" charset="0"/>
              </a:rPr>
              <a:t> Continua na 1ª faixa (6%).</a:t>
            </a:r>
          </a:p>
          <a:p>
            <a:r>
              <a:rPr lang="pt-BR" b="1" dirty="0">
                <a:latin typeface="Aptos" panose="020B0004020202020204" pitchFamily="34" charset="0"/>
              </a:rPr>
              <a:t>Imposto </a:t>
            </a:r>
            <a:r>
              <a:rPr lang="pt-BR" b="1" dirty="0" err="1">
                <a:latin typeface="Aptos" panose="020B0004020202020204" pitchFamily="34" charset="0"/>
              </a:rPr>
              <a:t>Fev</a:t>
            </a:r>
            <a:r>
              <a:rPr lang="pt-BR" b="1" dirty="0">
                <a:latin typeface="Aptos" panose="020B0004020202020204" pitchFamily="34" charset="0"/>
              </a:rPr>
              <a:t>:</a:t>
            </a:r>
            <a:r>
              <a:rPr lang="pt-BR" dirty="0">
                <a:latin typeface="Aptos" panose="020B0004020202020204" pitchFamily="34" charset="0"/>
              </a:rPr>
              <a:t> R$ 9.373,33*6% = </a:t>
            </a:r>
            <a:r>
              <a:rPr lang="pt-BR" b="1" dirty="0">
                <a:latin typeface="Aptos" panose="020B0004020202020204" pitchFamily="34" charset="0"/>
              </a:rPr>
              <a:t>R$ 562,40</a:t>
            </a:r>
            <a:endParaRPr lang="pt-BR" b="0" dirty="0">
              <a:effectLst/>
              <a:latin typeface="Aptos" panose="020B00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0E09B4-33C9-7C1C-56AF-5C33C729297D}"/>
              </a:ext>
            </a:extLst>
          </p:cNvPr>
          <p:cNvSpPr txBox="1"/>
          <p:nvPr/>
        </p:nvSpPr>
        <p:spPr>
          <a:xfrm>
            <a:off x="420511" y="5493306"/>
            <a:ext cx="75529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" panose="020B0004020202020204" pitchFamily="34" charset="0"/>
              </a:rPr>
              <a:t>Obs.: </a:t>
            </a:r>
            <a:r>
              <a:rPr lang="pt-BR" sz="1200" dirty="0">
                <a:latin typeface="Aptos" panose="020B0004020202020204" pitchFamily="34" charset="0"/>
              </a:rPr>
              <a:t>OPGDAS-D (Programa Gerador do Documento de Arrecadação do Simples Nacional - Declaratório) é a ferramenta online obrigatória para microempresas (ME) e empresas de pequeno porte (EPP) optantes pelo Simples Nacional. Ele calcula os impostos mensais, gera o guia DAS e deve ser transmitido até o dia 20 do mês seguinte.</a:t>
            </a:r>
          </a:p>
        </p:txBody>
      </p:sp>
    </p:spTree>
    <p:extLst>
      <p:ext uri="{BB962C8B-B14F-4D97-AF65-F5344CB8AC3E}">
        <p14:creationId xmlns:p14="http://schemas.microsoft.com/office/powerpoint/2010/main" val="486085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3EB63-682E-512D-6D92-5D3ED820C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A0261BC-624F-5377-615D-1689FF5B6C1B}"/>
              </a:ext>
            </a:extLst>
          </p:cNvPr>
          <p:cNvSpPr/>
          <p:nvPr/>
        </p:nvSpPr>
        <p:spPr>
          <a:xfrm>
            <a:off x="0" y="0"/>
            <a:ext cx="810039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9B2C2B5-A73C-8339-6540-45458BF45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15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DDEA6B9-5698-E439-0FB2-BBF40EC7F2B7}"/>
              </a:ext>
            </a:extLst>
          </p:cNvPr>
          <p:cNvSpPr txBox="1"/>
          <p:nvPr/>
        </p:nvSpPr>
        <p:spPr>
          <a:xfrm>
            <a:off x="400633" y="1560504"/>
            <a:ext cx="76515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ptos" panose="020B0004020202020204" pitchFamily="34" charset="0"/>
              </a:rPr>
              <a:t>3. Março (3º Mês)</a:t>
            </a:r>
          </a:p>
          <a:p>
            <a:r>
              <a:rPr lang="pt-BR" b="1" dirty="0">
                <a:latin typeface="Aptos" panose="020B0004020202020204" pitchFamily="34" charset="0"/>
              </a:rPr>
              <a:t>Média:</a:t>
            </a:r>
            <a:r>
              <a:rPr lang="pt-BR" dirty="0">
                <a:latin typeface="Aptos" panose="020B0004020202020204" pitchFamily="34" charset="0"/>
              </a:rPr>
              <a:t> (9.373,33 + 9.373,33)/2 = R$ 9.373,33</a:t>
            </a:r>
          </a:p>
          <a:p>
            <a:r>
              <a:rPr lang="pt-BR" b="1" dirty="0">
                <a:latin typeface="Aptos" panose="020B0004020202020204" pitchFamily="34" charset="0"/>
              </a:rPr>
              <a:t>Projeção (RBT12):</a:t>
            </a:r>
            <a:r>
              <a:rPr lang="pt-BR" dirty="0">
                <a:latin typeface="Aptos" panose="020B0004020202020204" pitchFamily="34" charset="0"/>
              </a:rPr>
              <a:t> $9.373,33*2 = R$ 112.480,00</a:t>
            </a:r>
          </a:p>
          <a:p>
            <a:r>
              <a:rPr lang="pt-BR" b="1" dirty="0">
                <a:latin typeface="Aptos" panose="020B0004020202020204" pitchFamily="34" charset="0"/>
              </a:rPr>
              <a:t>Alíquota:</a:t>
            </a:r>
            <a:r>
              <a:rPr lang="pt-BR" dirty="0">
                <a:latin typeface="Aptos" panose="020B0004020202020204" pitchFamily="34" charset="0"/>
              </a:rPr>
              <a:t> Continua em 6%.</a:t>
            </a:r>
          </a:p>
          <a:p>
            <a:r>
              <a:rPr lang="pt-BR" b="1" dirty="0">
                <a:latin typeface="Aptos" panose="020B0004020202020204" pitchFamily="34" charset="0"/>
              </a:rPr>
              <a:t>Imposto Mar:</a:t>
            </a:r>
            <a:r>
              <a:rPr lang="pt-BR" dirty="0">
                <a:latin typeface="Aptos" panose="020B0004020202020204" pitchFamily="34" charset="0"/>
              </a:rPr>
              <a:t> R$ 9.373,33 *6% = </a:t>
            </a:r>
            <a:r>
              <a:rPr lang="pt-BR" b="1" dirty="0">
                <a:latin typeface="Aptos" panose="020B0004020202020204" pitchFamily="34" charset="0"/>
              </a:rPr>
              <a:t>R$ 562,40</a:t>
            </a:r>
            <a:br>
              <a:rPr lang="pt-BR" b="1" dirty="0">
                <a:latin typeface="Aptos" panose="020B0004020202020204" pitchFamily="34" charset="0"/>
              </a:rPr>
            </a:br>
            <a:endParaRPr lang="pt-BR" b="1" dirty="0">
              <a:latin typeface="Aptos" panose="020B0004020202020204" pitchFamily="34" charset="0"/>
            </a:endParaRPr>
          </a:p>
          <a:p>
            <a:r>
              <a:rPr lang="pt-BR" dirty="0">
                <a:latin typeface="Aptos" panose="020B0004020202020204" pitchFamily="34" charset="0"/>
              </a:rPr>
              <a:t>Neste caso específico, a proporcionalidade não altera o valor final porque o faturamento é baixo (está bem longe do limite de R$ 180 mil). </a:t>
            </a:r>
            <a:br>
              <a:rPr lang="pt-BR" dirty="0">
                <a:latin typeface="Aptos" panose="020B0004020202020204" pitchFamily="34" charset="0"/>
              </a:rPr>
            </a:b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Se o faturamento mensal fosse, por exemplo, o dobro, a projeção daria na 2ª Faixa e o Escritório já começaria pagando uma alíquota maior logo no primeiro mês.</a:t>
            </a:r>
            <a:br>
              <a:rPr lang="pt-BR" dirty="0">
                <a:latin typeface="Aptos" panose="020B0004020202020204" pitchFamily="34" charset="0"/>
              </a:rPr>
            </a:br>
            <a:endParaRPr lang="pt-BR" dirty="0">
              <a:latin typeface="Aptos" panose="020B0004020202020204" pitchFamily="34" charset="0"/>
            </a:endParaRPr>
          </a:p>
          <a:p>
            <a:r>
              <a:rPr lang="pt-BR" dirty="0">
                <a:latin typeface="Aptos" panose="020B0004020202020204" pitchFamily="34" charset="0"/>
              </a:rPr>
              <a:t>No mês de abertura (Janeiro), o vencimento do primeiro DAS será em </a:t>
            </a:r>
            <a:r>
              <a:rPr lang="pt-BR" b="1" dirty="0">
                <a:latin typeface="Aptos" panose="020B0004020202020204" pitchFamily="34" charset="0"/>
              </a:rPr>
              <a:t>20 de fevereiro</a:t>
            </a:r>
            <a:r>
              <a:rPr lang="pt-BR" dirty="0">
                <a:latin typeface="Aptos" panose="020B0004020202020204" pitchFamily="34" charset="0"/>
              </a:rPr>
              <a:t>.</a:t>
            </a:r>
            <a:endParaRPr lang="pt-BR" b="0" dirty="0">
              <a:effectLst/>
              <a:latin typeface="Aptos" panose="020B00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6C9DD1C-28C2-E486-61D0-D4C07B6D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33" y="437382"/>
            <a:ext cx="7113350" cy="68574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algn="ctr"/>
            <a: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</a:rPr>
              <a:t>Cálculo Simples Nacional – DAS</a:t>
            </a:r>
            <a:b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</a:rPr>
            </a:br>
            <a:r>
              <a:rPr lang="pt-BR" sz="2000" dirty="0">
                <a:solidFill>
                  <a:schemeClr val="accent1"/>
                </a:solidFill>
                <a:latin typeface="Aptos" panose="020B0004020202020204" pitchFamily="34" charset="0"/>
              </a:rPr>
              <a:t>(1º Trimestre)</a:t>
            </a:r>
            <a:endParaRPr lang="pt-BR" sz="2000" dirty="0">
              <a:solidFill>
                <a:schemeClr val="accent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325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95C66-3343-CF7D-2387-857D03F39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21D7F4E-380C-CE1E-7367-4A94DA7B07BE}"/>
              </a:ext>
            </a:extLst>
          </p:cNvPr>
          <p:cNvSpPr/>
          <p:nvPr/>
        </p:nvSpPr>
        <p:spPr>
          <a:xfrm>
            <a:off x="0" y="0"/>
            <a:ext cx="810039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8A4E63-F607-2A78-8E62-618D9B66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57" y="258350"/>
            <a:ext cx="7139608" cy="80578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algn="ctr"/>
            <a:r>
              <a:rPr lang="pt-BR" sz="2000" dirty="0">
                <a:solidFill>
                  <a:schemeClr val="accent1"/>
                </a:solidFill>
              </a:rPr>
              <a:t>Cálculo Simples Nacional – das</a:t>
            </a:r>
            <a:br>
              <a:rPr lang="pt-BR" sz="2000" dirty="0">
                <a:solidFill>
                  <a:schemeClr val="accent1"/>
                </a:solidFill>
              </a:rPr>
            </a:br>
            <a:r>
              <a:rPr lang="pt-BR" sz="1400" dirty="0">
                <a:solidFill>
                  <a:schemeClr val="accent1"/>
                </a:solidFill>
              </a:rPr>
              <a:t> (2º trimestre)</a:t>
            </a:r>
            <a:endParaRPr lang="pt-BR" sz="14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3B66D742-6940-3F70-7B48-1DD7A0C9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16</a:t>
            </a:fld>
            <a:endParaRPr lang="pt-BR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F8A5CB-C9C2-5C7F-EFFD-D6154B1D5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161" y="911804"/>
            <a:ext cx="7550230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latin typeface="Aptos" panose="020B0004020202020204" pitchFamily="34" charset="0"/>
              </a:rPr>
              <a:t>Para o </a:t>
            </a:r>
            <a:r>
              <a:rPr lang="pt-BR" b="1" dirty="0">
                <a:latin typeface="Aptos" panose="020B0004020202020204" pitchFamily="34" charset="0"/>
              </a:rPr>
              <a:t>2º Trimestre (Abril, Maio e Junho)</a:t>
            </a:r>
            <a:r>
              <a:rPr lang="pt-BR" dirty="0">
                <a:latin typeface="Aptos" panose="020B0004020202020204" pitchFamily="34" charset="0"/>
              </a:rPr>
              <a:t>, o faturamento total foi de </a:t>
            </a:r>
            <a:r>
              <a:rPr lang="pt-BR" b="1" dirty="0">
                <a:latin typeface="Aptos" panose="020B0004020202020204" pitchFamily="34" charset="0"/>
              </a:rPr>
              <a:t>R$ 36.850,00</a:t>
            </a:r>
            <a:r>
              <a:rPr lang="pt-BR" dirty="0">
                <a:latin typeface="Aptos" panose="020B0004020202020204" pitchFamily="34" charset="0"/>
              </a:rPr>
              <a:t>. </a:t>
            </a:r>
            <a:br>
              <a:rPr lang="pt-BR" dirty="0">
                <a:latin typeface="Aptos" panose="020B0004020202020204" pitchFamily="34" charset="0"/>
              </a:rPr>
            </a:br>
            <a:endParaRPr lang="pt-BR" dirty="0">
              <a:latin typeface="Aptos" panose="020B0004020202020204" pitchFamily="34" charset="0"/>
            </a:endParaRPr>
          </a:p>
          <a:p>
            <a:r>
              <a:rPr lang="pt-BR" b="1" dirty="0">
                <a:latin typeface="Aptos" panose="020B0004020202020204" pitchFamily="34" charset="0"/>
              </a:rPr>
              <a:t>Média Mensal:</a:t>
            </a:r>
            <a:r>
              <a:rPr lang="pt-BR" dirty="0">
                <a:latin typeface="Aptos" panose="020B0004020202020204" pitchFamily="34" charset="0"/>
              </a:rPr>
              <a:t> $36.850,00 / 3 = </a:t>
            </a:r>
            <a:r>
              <a:rPr lang="pt-BR" b="1" dirty="0">
                <a:latin typeface="Aptos" panose="020B0004020202020204" pitchFamily="34" charset="0"/>
              </a:rPr>
              <a:t>R$12.283,33 </a:t>
            </a:r>
            <a:r>
              <a:rPr lang="pt-BR" dirty="0">
                <a:latin typeface="Aptos" panose="020B0004020202020204" pitchFamily="34" charset="0"/>
              </a:rPr>
              <a:t>por mês.</a:t>
            </a:r>
          </a:p>
          <a:p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No Simples Nacional, a alíquota de um mês depende do faturamento acumulado nos 12 meses anteriores. Como a empresa é nova, soma-se o que a empresa já faturou desde janeiro.</a:t>
            </a:r>
            <a:br>
              <a:rPr lang="pt-BR" dirty="0">
                <a:latin typeface="Aptos" panose="020B0004020202020204" pitchFamily="34" charset="0"/>
              </a:rPr>
            </a:br>
            <a:endParaRPr lang="pt-BR" dirty="0">
              <a:latin typeface="Aptos" panose="020B0004020202020204" pitchFamily="34" charset="0"/>
            </a:endParaRPr>
          </a:p>
          <a:p>
            <a:r>
              <a:rPr lang="pt-BR" b="1" dirty="0">
                <a:latin typeface="Aptos" panose="020B0004020202020204" pitchFamily="34" charset="0"/>
              </a:rPr>
              <a:t>4. Abril (4º Mês)</a:t>
            </a:r>
          </a:p>
          <a:p>
            <a:r>
              <a:rPr lang="pt-BR" b="1" dirty="0">
                <a:latin typeface="Aptos" panose="020B0004020202020204" pitchFamily="34" charset="0"/>
              </a:rPr>
              <a:t>Faturamento do mês:</a:t>
            </a:r>
            <a:r>
              <a:rPr lang="pt-BR" dirty="0">
                <a:latin typeface="Aptos" panose="020B0004020202020204" pitchFamily="34" charset="0"/>
              </a:rPr>
              <a:t> R$12.283,33</a:t>
            </a:r>
          </a:p>
          <a:p>
            <a:r>
              <a:rPr lang="pt-BR" b="1" dirty="0">
                <a:latin typeface="Aptos" panose="020B0004020202020204" pitchFamily="34" charset="0"/>
              </a:rPr>
              <a:t>RBT12 Proporcional:</a:t>
            </a:r>
            <a:r>
              <a:rPr lang="pt-BR" dirty="0">
                <a:latin typeface="Aptos" panose="020B0004020202020204" pitchFamily="34" charset="0"/>
              </a:rPr>
              <a:t> Média dos meses anteriores é multiplicado por 12. Média (Jan a Mar): R$ 9.373,33 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Cálculo: $9.373,33*12 = R$112.480,00</a:t>
            </a:r>
          </a:p>
          <a:p>
            <a:br>
              <a:rPr lang="pt-BR" b="1" dirty="0">
                <a:latin typeface="Aptos" panose="020B0004020202020204" pitchFamily="34" charset="0"/>
              </a:rPr>
            </a:br>
            <a:r>
              <a:rPr lang="pt-BR" b="1" dirty="0">
                <a:latin typeface="Aptos" panose="020B0004020202020204" pitchFamily="34" charset="0"/>
              </a:rPr>
              <a:t>Alíquota:</a:t>
            </a:r>
            <a:r>
              <a:rPr lang="pt-BR" dirty="0">
                <a:latin typeface="Aptos" panose="020B0004020202020204" pitchFamily="34" charset="0"/>
              </a:rPr>
              <a:t> Como o valor é menor que R$ 180.000,00, a Empresa continua na 1ª Faixa do Anexo III (6%).</a:t>
            </a:r>
            <a:br>
              <a:rPr lang="pt-BR" dirty="0">
                <a:latin typeface="Aptos" panose="020B0004020202020204" pitchFamily="34" charset="0"/>
              </a:rPr>
            </a:br>
            <a:endParaRPr lang="pt-BR" dirty="0">
              <a:latin typeface="Aptos" panose="020B0004020202020204" pitchFamily="34" charset="0"/>
            </a:endParaRPr>
          </a:p>
          <a:p>
            <a:r>
              <a:rPr lang="pt-BR" b="1" dirty="0">
                <a:latin typeface="Aptos" panose="020B0004020202020204" pitchFamily="34" charset="0"/>
              </a:rPr>
              <a:t>DAS Abril:</a:t>
            </a:r>
            <a:r>
              <a:rPr lang="pt-BR" dirty="0">
                <a:latin typeface="Aptos" panose="020B0004020202020204" pitchFamily="34" charset="0"/>
              </a:rPr>
              <a:t> $12.283,33*6% </a:t>
            </a:r>
            <a:r>
              <a:rPr lang="pt-BR" b="1" dirty="0">
                <a:latin typeface="Aptos" panose="020B0004020202020204" pitchFamily="34" charset="0"/>
              </a:rPr>
              <a:t>= R$ 737,00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137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60673-A736-D2B1-93F9-8CC23A83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AA315F7-1AAD-F287-E245-77694B9B866A}"/>
              </a:ext>
            </a:extLst>
          </p:cNvPr>
          <p:cNvSpPr/>
          <p:nvPr/>
        </p:nvSpPr>
        <p:spPr>
          <a:xfrm>
            <a:off x="0" y="0"/>
            <a:ext cx="810039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BE62FB-5314-229C-85B9-8847738C9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57" y="258350"/>
            <a:ext cx="7139608" cy="80578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algn="ctr"/>
            <a:r>
              <a:rPr lang="pt-BR" sz="2000" dirty="0">
                <a:solidFill>
                  <a:schemeClr val="accent1"/>
                </a:solidFill>
              </a:rPr>
              <a:t>Cálculo Simples Nacional – das</a:t>
            </a:r>
            <a:br>
              <a:rPr lang="pt-BR" sz="2000" dirty="0">
                <a:solidFill>
                  <a:schemeClr val="accent1"/>
                </a:solidFill>
              </a:rPr>
            </a:br>
            <a:r>
              <a:rPr lang="pt-BR" sz="1400" dirty="0">
                <a:solidFill>
                  <a:schemeClr val="accent1"/>
                </a:solidFill>
              </a:rPr>
              <a:t> (2º trimestre)</a:t>
            </a:r>
            <a:endParaRPr lang="pt-BR" sz="1400" dirty="0">
              <a:solidFill>
                <a:schemeClr val="accent1"/>
              </a:solidFill>
              <a:effectLst/>
            </a:endParaRP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D0E3CDB-655E-9A42-4FD5-EEB9B7A3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17</a:t>
            </a:fld>
            <a:endParaRPr lang="pt-BR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DC1E7A0-9980-0808-910C-D8AF2B60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514" y="1064135"/>
            <a:ext cx="7139608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latin typeface="Aptos" panose="020B0004020202020204" pitchFamily="34" charset="0"/>
              </a:rPr>
              <a:t>5. Maio (5º Mês)</a:t>
            </a:r>
            <a:br>
              <a:rPr lang="pt-BR" b="1" dirty="0">
                <a:latin typeface="Aptos" panose="020B0004020202020204" pitchFamily="34" charset="0"/>
              </a:rPr>
            </a:br>
            <a:r>
              <a:rPr lang="pt-BR" b="1" dirty="0">
                <a:latin typeface="Aptos" panose="020B0004020202020204" pitchFamily="34" charset="0"/>
              </a:rPr>
              <a:t>Faturamento do mês:</a:t>
            </a:r>
            <a:r>
              <a:rPr lang="pt-BR" dirty="0">
                <a:latin typeface="Aptos" panose="020B0004020202020204" pitchFamily="34" charset="0"/>
              </a:rPr>
              <a:t> R$ 12.283,33</a:t>
            </a:r>
          </a:p>
          <a:p>
            <a:r>
              <a:rPr lang="pt-BR" b="1" dirty="0">
                <a:latin typeface="Aptos" panose="020B0004020202020204" pitchFamily="34" charset="0"/>
              </a:rPr>
              <a:t>RBT12 Proporcional:</a:t>
            </a:r>
            <a:r>
              <a:rPr lang="pt-BR" dirty="0">
                <a:latin typeface="Aptos" panose="020B0004020202020204" pitchFamily="34" charset="0"/>
              </a:rPr>
              <a:t> (Média de Jan, </a:t>
            </a:r>
            <a:r>
              <a:rPr lang="pt-BR" dirty="0" err="1">
                <a:latin typeface="Aptos" panose="020B0004020202020204" pitchFamily="34" charset="0"/>
              </a:rPr>
              <a:t>Fev</a:t>
            </a:r>
            <a:r>
              <a:rPr lang="pt-BR" dirty="0">
                <a:latin typeface="Aptos" panose="020B0004020202020204" pitchFamily="34" charset="0"/>
              </a:rPr>
              <a:t>, Mar e </a:t>
            </a:r>
            <a:r>
              <a:rPr lang="pt-BR" dirty="0" err="1">
                <a:latin typeface="Aptos" panose="020B0004020202020204" pitchFamily="34" charset="0"/>
              </a:rPr>
              <a:t>Abr</a:t>
            </a:r>
            <a:r>
              <a:rPr lang="pt-BR" dirty="0">
                <a:latin typeface="Aptos" panose="020B0004020202020204" pitchFamily="34" charset="0"/>
              </a:rPr>
              <a:t>) x 12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Total acumulado: $28.120,00 + 12.283,33 = R$ 40.403,33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Média (4 meses): $40.403,33 / 4 = R$ 10.100,83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Projeção: $10.100,83*12 = R$ 121.210,00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b="1" dirty="0">
                <a:latin typeface="Aptos" panose="020B0004020202020204" pitchFamily="34" charset="0"/>
              </a:rPr>
              <a:t>Alíquota:</a:t>
            </a:r>
            <a:r>
              <a:rPr lang="pt-BR" dirty="0">
                <a:latin typeface="Aptos" panose="020B0004020202020204" pitchFamily="34" charset="0"/>
              </a:rPr>
              <a:t> Permanece na 1ª faixa (6%).</a:t>
            </a:r>
            <a:br>
              <a:rPr lang="pt-BR" dirty="0">
                <a:latin typeface="Aptos" panose="020B0004020202020204" pitchFamily="34" charset="0"/>
              </a:rPr>
            </a:br>
            <a:endParaRPr lang="pt-BR" dirty="0">
              <a:latin typeface="Aptos" panose="020B0004020202020204" pitchFamily="34" charset="0"/>
            </a:endParaRPr>
          </a:p>
          <a:p>
            <a:r>
              <a:rPr lang="pt-BR" b="1" dirty="0">
                <a:latin typeface="Aptos" panose="020B0004020202020204" pitchFamily="34" charset="0"/>
              </a:rPr>
              <a:t>DAS Maio:</a:t>
            </a:r>
            <a:r>
              <a:rPr lang="pt-BR" dirty="0">
                <a:latin typeface="Aptos" panose="020B0004020202020204" pitchFamily="34" charset="0"/>
              </a:rPr>
              <a:t> $12.283,33*6% </a:t>
            </a:r>
            <a:r>
              <a:rPr lang="pt-BR" b="1" dirty="0">
                <a:latin typeface="Aptos" panose="020B0004020202020204" pitchFamily="34" charset="0"/>
              </a:rPr>
              <a:t>= R$ 737,00</a:t>
            </a:r>
            <a:br>
              <a:rPr lang="pt-BR" b="1" dirty="0">
                <a:latin typeface="Aptos" panose="020B0004020202020204" pitchFamily="34" charset="0"/>
              </a:rPr>
            </a:br>
            <a:endParaRPr lang="pt-BR" b="1" dirty="0">
              <a:latin typeface="Aptos" panose="020B0004020202020204" pitchFamily="34" charset="0"/>
            </a:endParaRPr>
          </a:p>
          <a:p>
            <a:r>
              <a:rPr lang="pt-BR" b="1" dirty="0">
                <a:latin typeface="Aptos" panose="020B0004020202020204" pitchFamily="34" charset="0"/>
              </a:rPr>
              <a:t>6. Junho (6º Mês)</a:t>
            </a:r>
          </a:p>
          <a:p>
            <a:r>
              <a:rPr lang="pt-BR" b="1" dirty="0">
                <a:latin typeface="Aptos" panose="020B0004020202020204" pitchFamily="34" charset="0"/>
              </a:rPr>
              <a:t>Faturamento do mês:</a:t>
            </a:r>
            <a:r>
              <a:rPr lang="pt-BR" dirty="0">
                <a:latin typeface="Aptos" panose="020B0004020202020204" pitchFamily="34" charset="0"/>
              </a:rPr>
              <a:t> R$ 12.283,34 (ajuste de centavos)</a:t>
            </a:r>
          </a:p>
          <a:p>
            <a:r>
              <a:rPr lang="pt-BR" b="1" dirty="0">
                <a:latin typeface="Aptos" panose="020B0004020202020204" pitchFamily="34" charset="0"/>
              </a:rPr>
              <a:t>RBT12 Proporcional:</a:t>
            </a:r>
            <a:r>
              <a:rPr lang="pt-BR" dirty="0">
                <a:latin typeface="Aptos" panose="020B0004020202020204" pitchFamily="34" charset="0"/>
              </a:rPr>
              <a:t> (Média de Jan a Mai) x 12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Total acumulado: $40.403,33 + 12.283,33 = R$ 52.686,66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Média (5 meses): $52.686,66 / 5 = R$ 10.537,33</a:t>
            </a:r>
            <a:br>
              <a:rPr lang="pt-BR" dirty="0">
                <a:latin typeface="Aptos" panose="020B0004020202020204" pitchFamily="34" charset="0"/>
              </a:rPr>
            </a:br>
            <a:r>
              <a:rPr lang="pt-BR" dirty="0">
                <a:latin typeface="Aptos" panose="020B0004020202020204" pitchFamily="34" charset="0"/>
              </a:rPr>
              <a:t>Projeção: $10.537,33*12 = R$ 126.448,00</a:t>
            </a:r>
          </a:p>
          <a:p>
            <a:r>
              <a:rPr lang="pt-BR" b="1" dirty="0">
                <a:latin typeface="Aptos" panose="020B0004020202020204" pitchFamily="34" charset="0"/>
              </a:rPr>
              <a:t>Alíquota:</a:t>
            </a:r>
            <a:r>
              <a:rPr lang="pt-BR" dirty="0">
                <a:latin typeface="Aptos" panose="020B0004020202020204" pitchFamily="34" charset="0"/>
              </a:rPr>
              <a:t> Permanece na 1ª faixa (6%).</a:t>
            </a:r>
            <a:br>
              <a:rPr lang="pt-BR" dirty="0">
                <a:latin typeface="Aptos" panose="020B0004020202020204" pitchFamily="34" charset="0"/>
              </a:rPr>
            </a:br>
            <a:endParaRPr lang="pt-BR" dirty="0">
              <a:latin typeface="Aptos" panose="020B0004020202020204" pitchFamily="34" charset="0"/>
            </a:endParaRPr>
          </a:p>
          <a:p>
            <a:r>
              <a:rPr lang="pt-BR" b="1" dirty="0">
                <a:latin typeface="Aptos" panose="020B0004020202020204" pitchFamily="34" charset="0"/>
              </a:rPr>
              <a:t>DAS Junho:</a:t>
            </a:r>
            <a:r>
              <a:rPr lang="pt-BR" dirty="0">
                <a:latin typeface="Aptos" panose="020B0004020202020204" pitchFamily="34" charset="0"/>
              </a:rPr>
              <a:t> $12.283,34*6% </a:t>
            </a:r>
            <a:r>
              <a:rPr lang="pt-BR" b="1" dirty="0">
                <a:latin typeface="Aptos" panose="020B0004020202020204" pitchFamily="34" charset="0"/>
              </a:rPr>
              <a:t>= R$ 737,00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678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77A7D-CFAB-6FE2-6830-DE297D207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3F9CB-9DE8-9526-6175-0BE7CC0E5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5885" y="377688"/>
            <a:ext cx="6594768" cy="1918251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r>
              <a:rPr lang="pt-BR" sz="4400" dirty="0"/>
              <a:t>Impostos sobre a Receita (Deduções)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9282BE-0482-AACE-ED93-5CB689EDA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7436" y="1790332"/>
            <a:ext cx="7101042" cy="4771425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2000" dirty="0">
                <a:latin typeface="Aptos" panose="020B0004020202020204" pitchFamily="34" charset="0"/>
              </a:rPr>
              <a:t>Conforme Anexo III os 6% sobre os R</a:t>
            </a:r>
            <a:r>
              <a:rPr lang="pt-BR" sz="2000">
                <a:latin typeface="Aptos" panose="020B0004020202020204" pitchFamily="34" charset="0"/>
              </a:rPr>
              <a:t>$ 28.120,00</a:t>
            </a:r>
            <a:r>
              <a:rPr lang="pt-BR" sz="2000" dirty="0">
                <a:latin typeface="Aptos" panose="020B0004020202020204" pitchFamily="34" charset="0"/>
              </a:rPr>
              <a:t>(trimestre)</a:t>
            </a:r>
            <a:br>
              <a:rPr lang="pt-BR" sz="2000" dirty="0">
                <a:latin typeface="Aptos" panose="020B0004020202020204" pitchFamily="34" charset="0"/>
              </a:rPr>
            </a:br>
            <a:r>
              <a:rPr lang="pt-BR" sz="2000" dirty="0">
                <a:latin typeface="Aptos" panose="020B0004020202020204" pitchFamily="34" charset="0"/>
              </a:rPr>
              <a:t>englobam os seguintes tributos (repartição interna):</a:t>
            </a:r>
            <a:br>
              <a:rPr lang="pt-BR" sz="2000" dirty="0">
                <a:latin typeface="Aptos" panose="020B0004020202020204" pitchFamily="34" charset="0"/>
              </a:rPr>
            </a:br>
            <a:r>
              <a:rPr lang="pt-BR" sz="2000" b="1" dirty="0">
                <a:latin typeface="Aptos" panose="020B0004020202020204" pitchFamily="34" charset="0"/>
              </a:rPr>
              <a:t>ISS (Municipal):</a:t>
            </a:r>
            <a:r>
              <a:rPr lang="pt-BR" sz="2000" dirty="0">
                <a:latin typeface="Aptos" panose="020B0004020202020204" pitchFamily="34" charset="0"/>
              </a:rPr>
              <a:t> 2,00%</a:t>
            </a:r>
            <a:br>
              <a:rPr lang="pt-BR" sz="2000" dirty="0">
                <a:latin typeface="Aptos" panose="020B0004020202020204" pitchFamily="34" charset="0"/>
              </a:rPr>
            </a:br>
            <a:r>
              <a:rPr lang="pt-BR" sz="2000" b="1" dirty="0">
                <a:latin typeface="Aptos" panose="020B0004020202020204" pitchFamily="34" charset="0"/>
              </a:rPr>
              <a:t>CPP (Previdência Patronal):</a:t>
            </a:r>
            <a:r>
              <a:rPr lang="pt-BR" sz="2000" dirty="0">
                <a:latin typeface="Aptos" panose="020B0004020202020204" pitchFamily="34" charset="0"/>
              </a:rPr>
              <a:t> 2,42%</a:t>
            </a:r>
            <a:br>
              <a:rPr lang="pt-BR" sz="2000" dirty="0">
                <a:latin typeface="Aptos" panose="020B0004020202020204" pitchFamily="34" charset="0"/>
              </a:rPr>
            </a:br>
            <a:r>
              <a:rPr lang="pt-BR" sz="2000" b="1" dirty="0">
                <a:latin typeface="Aptos" panose="020B0004020202020204" pitchFamily="34" charset="0"/>
              </a:rPr>
              <a:t>COFINS:</a:t>
            </a:r>
            <a:r>
              <a:rPr lang="pt-BR" sz="2000" dirty="0">
                <a:latin typeface="Aptos" panose="020B0004020202020204" pitchFamily="34" charset="0"/>
              </a:rPr>
              <a:t> 0,77%</a:t>
            </a:r>
            <a:br>
              <a:rPr lang="pt-BR" sz="2000" dirty="0">
                <a:latin typeface="Aptos" panose="020B0004020202020204" pitchFamily="34" charset="0"/>
              </a:rPr>
            </a:br>
            <a:r>
              <a:rPr lang="pt-BR" sz="2000" b="1" dirty="0">
                <a:latin typeface="Aptos" panose="020B0004020202020204" pitchFamily="34" charset="0"/>
              </a:rPr>
              <a:t>PIS/Pasep:</a:t>
            </a:r>
            <a:r>
              <a:rPr lang="pt-BR" sz="2000" dirty="0">
                <a:latin typeface="Aptos" panose="020B0004020202020204" pitchFamily="34" charset="0"/>
              </a:rPr>
              <a:t> 0,21%</a:t>
            </a:r>
            <a:br>
              <a:rPr lang="pt-BR" sz="2000" dirty="0">
                <a:latin typeface="Aptos" panose="020B0004020202020204" pitchFamily="34" charset="0"/>
              </a:rPr>
            </a:br>
            <a:r>
              <a:rPr lang="pt-BR" sz="2000" b="1" dirty="0">
                <a:latin typeface="Aptos" panose="020B0004020202020204" pitchFamily="34" charset="0"/>
              </a:rPr>
              <a:t>CSLL:</a:t>
            </a:r>
            <a:r>
              <a:rPr lang="pt-BR" sz="2000" dirty="0">
                <a:latin typeface="Aptos" panose="020B0004020202020204" pitchFamily="34" charset="0"/>
              </a:rPr>
              <a:t> 0,35%</a:t>
            </a:r>
            <a:br>
              <a:rPr lang="pt-BR" sz="2000" dirty="0">
                <a:latin typeface="Aptos" panose="020B0004020202020204" pitchFamily="34" charset="0"/>
              </a:rPr>
            </a:br>
            <a:r>
              <a:rPr lang="pt-BR" sz="2000" b="1" dirty="0">
                <a:latin typeface="Aptos" panose="020B0004020202020204" pitchFamily="34" charset="0"/>
              </a:rPr>
              <a:t>IRPJ:</a:t>
            </a:r>
            <a:r>
              <a:rPr lang="pt-BR" sz="2000" dirty="0">
                <a:latin typeface="Aptos" panose="020B0004020202020204" pitchFamily="34" charset="0"/>
              </a:rPr>
              <a:t> 0,25%</a:t>
            </a:r>
            <a:br>
              <a:rPr lang="pt-BR" sz="2000" dirty="0">
                <a:latin typeface="Aptos" panose="020B0004020202020204" pitchFamily="34" charset="0"/>
              </a:rPr>
            </a:br>
            <a:r>
              <a:rPr lang="pt-BR" sz="2800" b="1" dirty="0">
                <a:latin typeface="Aptos" panose="020B0004020202020204" pitchFamily="34" charset="0"/>
              </a:rPr>
              <a:t>Total</a:t>
            </a:r>
            <a:r>
              <a:rPr lang="pt-BR" sz="2000" b="1" dirty="0">
                <a:latin typeface="Aptos" panose="020B0004020202020204" pitchFamily="34" charset="0"/>
              </a:rPr>
              <a:t>:</a:t>
            </a:r>
            <a:r>
              <a:rPr lang="pt-BR" sz="2000" dirty="0">
                <a:latin typeface="Aptos" panose="020B0004020202020204" pitchFamily="34" charset="0"/>
              </a:rPr>
              <a:t> </a:t>
            </a:r>
            <a:r>
              <a:rPr lang="pt-BR" sz="2000" b="1" dirty="0">
                <a:latin typeface="Aptos" panose="020B0004020202020204" pitchFamily="34" charset="0"/>
              </a:rPr>
              <a:t>6%</a:t>
            </a:r>
            <a:r>
              <a:rPr lang="pt-BR" sz="2000" dirty="0">
                <a:latin typeface="Aptos" panose="020B0004020202020204" pitchFamily="34" charset="0"/>
              </a:rPr>
              <a:t> (R</a:t>
            </a:r>
            <a:r>
              <a:rPr lang="pt-BR" sz="2000">
                <a:latin typeface="Aptos" panose="020B0004020202020204" pitchFamily="34" charset="0"/>
              </a:rPr>
              <a:t>$ 1.687,20 </a:t>
            </a:r>
            <a:r>
              <a:rPr lang="pt-BR" sz="2000" dirty="0">
                <a:latin typeface="Aptos" panose="020B0004020202020204" pitchFamily="34" charset="0"/>
              </a:rPr>
              <a:t>sobre o faturamento trimestral).</a:t>
            </a:r>
          </a:p>
          <a:p>
            <a:pPr rtl="0"/>
            <a:endParaRPr lang="pt-BR" sz="1800" dirty="0">
              <a:latin typeface="Aptos" panose="020B0004020202020204" pitchFamily="34" charset="0"/>
            </a:endParaRPr>
          </a:p>
        </p:txBody>
      </p:sp>
      <p:pic>
        <p:nvPicPr>
          <p:cNvPr id="13" name="Espaço Reservado para Imagem 12" descr="Vista de baixo ângulo de edifícios altos">
            <a:extLst>
              <a:ext uri="{FF2B5EF4-FFF2-40B4-BE49-F238E27FC236}">
                <a16:creationId xmlns:a16="http://schemas.microsoft.com/office/drawing/2014/main" id="{710B1374-7FE1-606A-85F4-A707FD9826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AF20B83E-2D2E-51C8-EE5A-5402DC96E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84FCBC6C-7136-AC36-8322-5B46E3661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409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548242"/>
            <a:ext cx="7825613" cy="1362456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4000" dirty="0"/>
              <a:t>Outros Encargos (Despesas Operacionais)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19</a:t>
            </a:fld>
            <a:endParaRPr lang="pt-BR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79532EA5-F9C8-1A52-681C-06DE4CE27D3D}"/>
              </a:ext>
            </a:extLst>
          </p:cNvPr>
          <p:cNvSpPr txBox="1">
            <a:spLocks/>
          </p:cNvSpPr>
          <p:nvPr/>
        </p:nvSpPr>
        <p:spPr>
          <a:xfrm>
            <a:off x="771525" y="1910698"/>
            <a:ext cx="9396981" cy="4025990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pt-BR"/>
            </a:defPPr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>
                <a:latin typeface="Aptos" panose="020B0004020202020204" pitchFamily="34" charset="0"/>
              </a:rPr>
              <a:t>Para a DRE não ficar distorcida, aqui estão os tributos que </a:t>
            </a:r>
            <a:r>
              <a:rPr lang="pt-BR" sz="2000" b="1" dirty="0">
                <a:latin typeface="Aptos" panose="020B0004020202020204" pitchFamily="34" charset="0"/>
              </a:rPr>
              <a:t>não</a:t>
            </a:r>
            <a:r>
              <a:rPr lang="pt-BR" sz="2000" dirty="0">
                <a:latin typeface="Aptos" panose="020B0004020202020204" pitchFamily="34" charset="0"/>
              </a:rPr>
              <a:t> estão no DAS, mas que o Escritório paga: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FGTS:</a:t>
            </a:r>
            <a:r>
              <a:rPr lang="pt-BR" sz="2000" dirty="0">
                <a:latin typeface="Aptos" panose="020B0004020202020204" pitchFamily="34" charset="0"/>
              </a:rPr>
              <a:t> 8% sobre a folha de pagamento dos funcionários (se houver).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INSS Retido:</a:t>
            </a:r>
            <a:r>
              <a:rPr lang="pt-BR" sz="2000" dirty="0">
                <a:latin typeface="Aptos" panose="020B0004020202020204" pitchFamily="34" charset="0"/>
              </a:rPr>
              <a:t> O desconto de INSS dos funcionários e do pró-labore dos sócios (embora seja uma obrigação da empresa recolher, é um desconto do salário, mas o INSS Patronal já está dentro dos 6% do Simples).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Taxas Municipais:</a:t>
            </a:r>
            <a:r>
              <a:rPr lang="pt-BR" sz="2000" dirty="0">
                <a:latin typeface="Aptos" panose="020B0004020202020204" pitchFamily="34" charset="0"/>
              </a:rPr>
              <a:t> TFE (Taxa de Fiscalização de Estabelecimento) e o Alvará (custos anuais fixos).</a:t>
            </a:r>
          </a:p>
          <a:p>
            <a:r>
              <a:rPr lang="pt-BR" sz="2000" b="1" dirty="0">
                <a:latin typeface="Aptos" panose="020B0004020202020204" pitchFamily="34" charset="0"/>
              </a:rPr>
              <a:t>Anuidade do CRC:</a:t>
            </a:r>
            <a:r>
              <a:rPr lang="pt-BR" sz="2000" dirty="0">
                <a:latin typeface="Aptos" panose="020B0004020202020204" pitchFamily="34" charset="0"/>
              </a:rPr>
              <a:t> O escritório (PJ) e os contadores (PF) precisam pagar a anuidade ao Conselho Regional de Contabilidade.</a:t>
            </a:r>
          </a:p>
          <a:p>
            <a:endParaRPr lang="pt-BR" sz="1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123" y="675860"/>
            <a:ext cx="7606895" cy="111243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600" dirty="0"/>
              <a:t>Análise Horizontal (AH) //</a:t>
            </a:r>
            <a:br>
              <a:rPr lang="pt-BR" sz="3600" dirty="0"/>
            </a:br>
            <a:r>
              <a:rPr lang="pt-BR" sz="3600" dirty="0"/>
              <a:t>Análise Vertical (AV) </a:t>
            </a:r>
          </a:p>
        </p:txBody>
      </p:sp>
      <p:pic>
        <p:nvPicPr>
          <p:cNvPr id="14" name="Espaço Reservado para Imagem 13" descr="Mulher caminhando no escritório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674743" y="2122075"/>
            <a:ext cx="7744483" cy="444769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sz="2000" dirty="0"/>
              <a:t>A </a:t>
            </a:r>
            <a:r>
              <a:rPr lang="pt-BR" sz="2000" b="1" dirty="0"/>
              <a:t>análise horizontal (AH)</a:t>
            </a:r>
            <a:r>
              <a:rPr lang="pt-BR" sz="2000" dirty="0"/>
              <a:t> e </a:t>
            </a:r>
            <a:r>
              <a:rPr lang="pt-BR" sz="2000" b="1" dirty="0"/>
              <a:t>vertical (AV)</a:t>
            </a:r>
            <a:r>
              <a:rPr lang="pt-BR" sz="2000" dirty="0"/>
              <a:t> são técnicas contábeis para avaliar a saúde financeira de uma empresa. A </a:t>
            </a:r>
            <a:r>
              <a:rPr lang="pt-BR" sz="2000" b="1" dirty="0"/>
              <a:t>AH</a:t>
            </a:r>
            <a:r>
              <a:rPr lang="pt-BR" sz="2000" dirty="0"/>
              <a:t> compara a evolução de itens ao longo do tempo (tendência), enquanto a </a:t>
            </a:r>
            <a:r>
              <a:rPr lang="pt-BR" sz="2000" b="1" dirty="0"/>
              <a:t>AV</a:t>
            </a:r>
            <a:r>
              <a:rPr lang="pt-BR" sz="2000" dirty="0"/>
              <a:t> analisa a proporção de cada conta em relação a um total no mesmo período (estrutura).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b="1" dirty="0">
                <a:solidFill>
                  <a:srgbClr val="E6E8F0"/>
                </a:solidFill>
              </a:rPr>
              <a:t>Uso Conjunto:</a:t>
            </a:r>
            <a:r>
              <a:rPr lang="pt-BR" altLang="pt-BR" sz="2000" dirty="0">
                <a:solidFill>
                  <a:srgbClr val="E6E8F0"/>
                </a:solidFill>
              </a:rPr>
              <a:t> A combinação das duas análises (o método combinado) é ideal para entender o impacto das mudanças no tempo e sua estrutura.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b="1" dirty="0">
                <a:solidFill>
                  <a:srgbClr val="E6E8F0"/>
                </a:solidFill>
              </a:rPr>
              <a:t>DRE:</a:t>
            </a:r>
            <a:r>
              <a:rPr lang="pt-BR" altLang="pt-BR" sz="2000" dirty="0">
                <a:solidFill>
                  <a:srgbClr val="E6E8F0"/>
                </a:solidFill>
              </a:rPr>
              <a:t> Receita bruta é geralmente a base (100%) na análise vertical.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b="1" dirty="0">
                <a:solidFill>
                  <a:srgbClr val="E6E8F0"/>
                </a:solidFill>
              </a:rPr>
              <a:t>Balanço:</a:t>
            </a:r>
            <a:r>
              <a:rPr lang="pt-BR" altLang="pt-BR" sz="2000" dirty="0">
                <a:solidFill>
                  <a:srgbClr val="E6E8F0"/>
                </a:solidFill>
              </a:rPr>
              <a:t> Ativo Total ou Passivo Total são as bases (100%). 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ço Reservado para o Número do Slide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513" y="408084"/>
            <a:ext cx="10668000" cy="546073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pPr rtl="0"/>
            <a:r>
              <a:rPr lang="pt-BR" sz="3600" dirty="0"/>
              <a:t>AH e AV – Balanço Patrimonial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487" y="954158"/>
            <a:ext cx="4229507" cy="567269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b="1" dirty="0"/>
              <a:t>1. Análise do Balanço Patrimonial</a:t>
            </a:r>
          </a:p>
          <a:p>
            <a:r>
              <a:rPr lang="pt-BR" b="1" dirty="0"/>
              <a:t>Análise Vertical (AV):</a:t>
            </a:r>
            <a:r>
              <a:rPr lang="pt-BR" dirty="0"/>
              <a:t> A Fênix Contábil apresenta </a:t>
            </a:r>
            <a:r>
              <a:rPr lang="pt-BR" b="1" dirty="0"/>
              <a:t>83,32%</a:t>
            </a:r>
            <a:r>
              <a:rPr lang="pt-BR" dirty="0"/>
              <a:t> de tudo o que possui concentrado no Ativo Circulante (curto prazo) ao final do 2º trimestre. No lado das dívidas, ela é conservadora: o capital próprio (Patrimônio Líquido) saltou de </a:t>
            </a:r>
            <a:r>
              <a:rPr lang="pt-BR" b="1" dirty="0"/>
              <a:t>72,57%</a:t>
            </a:r>
            <a:r>
              <a:rPr lang="pt-BR" dirty="0"/>
              <a:t> para </a:t>
            </a:r>
            <a:r>
              <a:rPr lang="pt-BR" b="1" dirty="0"/>
              <a:t>79,30%</a:t>
            </a:r>
            <a:r>
              <a:rPr lang="pt-BR" dirty="0"/>
              <a:t> da estrutura total, mostrando que ela depende cada vez menos de dinheiro de terceiros.</a:t>
            </a:r>
          </a:p>
          <a:p>
            <a:r>
              <a:rPr lang="pt-BR" b="1" dirty="0"/>
              <a:t>Análise Horizontal (AH):</a:t>
            </a:r>
            <a:r>
              <a:rPr lang="pt-BR" dirty="0"/>
              <a:t> Houve uma redução de </a:t>
            </a:r>
            <a:r>
              <a:rPr lang="pt-BR" b="1" dirty="0"/>
              <a:t>34,69%</a:t>
            </a:r>
            <a:r>
              <a:rPr lang="pt-BR" dirty="0"/>
              <a:t> nas dívidas de curto prazo, mostrando que a gestão usou seus recursos para melhorar o seu resultado. </a:t>
            </a:r>
          </a:p>
          <a:p>
            <a:endParaRPr lang="pt-BR" dirty="0">
              <a:effectLst/>
            </a:endParaRP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21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CE7644-0BCC-3F71-2951-74148A70C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951" y="940257"/>
            <a:ext cx="6433536" cy="568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BB5B-E1F4-7776-1307-4146DB138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E22CA-F36C-2C93-3282-5F19312B1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43" y="352139"/>
            <a:ext cx="9320903" cy="65591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3200" dirty="0"/>
              <a:t>AH e AV – Demonstrativo do Resultado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AB699C4-B876-B76D-1199-41F72C905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6531" y="1008051"/>
            <a:ext cx="4166496" cy="549781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b="1" dirty="0"/>
              <a:t>2. Análise da DRE (Desempenho)</a:t>
            </a:r>
          </a:p>
          <a:p>
            <a:r>
              <a:rPr lang="pt-BR" b="1" dirty="0"/>
              <a:t>Análise Vertical (AV):</a:t>
            </a:r>
            <a:r>
              <a:rPr lang="pt-BR" dirty="0"/>
              <a:t> No 1º </a:t>
            </a:r>
            <a:r>
              <a:rPr lang="pt-BR" dirty="0" err="1"/>
              <a:t>trimes-tre</a:t>
            </a:r>
            <a:r>
              <a:rPr lang="pt-BR" dirty="0"/>
              <a:t>, as despesas consumiam </a:t>
            </a:r>
            <a:r>
              <a:rPr lang="pt-BR" b="1" dirty="0"/>
              <a:t>67,04%</a:t>
            </a:r>
            <a:r>
              <a:rPr lang="pt-BR" dirty="0"/>
              <a:t> da receita, gerando  </a:t>
            </a:r>
            <a:r>
              <a:rPr lang="pt-BR" dirty="0" err="1"/>
              <a:t>pre-juízo</a:t>
            </a:r>
            <a:r>
              <a:rPr lang="pt-BR" dirty="0"/>
              <a:t>. </a:t>
            </a:r>
            <a:br>
              <a:rPr lang="pt-BR" dirty="0"/>
            </a:br>
            <a:r>
              <a:rPr lang="pt-BR" dirty="0"/>
              <a:t>No 2º trimestre, a gestão foi muito mais eficiente: as despesas caíram para </a:t>
            </a:r>
            <a:r>
              <a:rPr lang="pt-BR" b="1" dirty="0"/>
              <a:t>43,07%</a:t>
            </a:r>
            <a:r>
              <a:rPr lang="pt-BR" dirty="0"/>
              <a:t> da receita, </a:t>
            </a:r>
            <a:r>
              <a:rPr lang="pt-BR" dirty="0" err="1"/>
              <a:t>permitin-do</a:t>
            </a:r>
            <a:r>
              <a:rPr lang="pt-BR" dirty="0"/>
              <a:t> a reversão para um lucro líquido de </a:t>
            </a:r>
            <a:r>
              <a:rPr lang="pt-BR" b="1" dirty="0"/>
              <a:t>1,67%</a:t>
            </a:r>
            <a:r>
              <a:rPr lang="pt-BR" dirty="0"/>
              <a:t>.</a:t>
            </a:r>
          </a:p>
          <a:p>
            <a:r>
              <a:rPr lang="pt-BR" b="1" dirty="0"/>
              <a:t>Análise Horizontal (AH): </a:t>
            </a:r>
            <a:br>
              <a:rPr lang="pt-BR" b="1" dirty="0"/>
            </a:br>
            <a:r>
              <a:rPr lang="pt-BR" dirty="0"/>
              <a:t>A receita bruta cresceu, passando de: </a:t>
            </a:r>
            <a:r>
              <a:rPr lang="pt-BR" b="1" dirty="0"/>
              <a:t>R$ 28.120,00</a:t>
            </a:r>
            <a:r>
              <a:rPr lang="pt-BR" dirty="0"/>
              <a:t> para </a:t>
            </a:r>
            <a:br>
              <a:rPr lang="pt-BR" dirty="0"/>
            </a:br>
            <a:r>
              <a:rPr lang="pt-BR" b="1" dirty="0"/>
              <a:t>R$ 36.850,00, </a:t>
            </a:r>
            <a:r>
              <a:rPr lang="pt-BR" dirty="0"/>
              <a:t>enquanto as </a:t>
            </a:r>
            <a:r>
              <a:rPr lang="pt-BR" dirty="0" err="1"/>
              <a:t>despe-sas</a:t>
            </a:r>
            <a:r>
              <a:rPr lang="pt-BR" dirty="0"/>
              <a:t> administrativas caíram </a:t>
            </a:r>
            <a:r>
              <a:rPr lang="pt-BR" b="1" dirty="0"/>
              <a:t>36,30%</a:t>
            </a:r>
            <a:r>
              <a:rPr lang="pt-BR" dirty="0"/>
              <a:t>, provando que o escritório passou a fazer mais com menos. </a:t>
            </a:r>
          </a:p>
          <a:p>
            <a:endParaRPr lang="pt-BR" dirty="0">
              <a:effectLst/>
            </a:endParaRP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CC4B3C4-DA6C-E7D0-DCB4-23E8C64B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22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EE16F61-F311-AAB2-42DE-A08C85EFB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503" y="916778"/>
            <a:ext cx="6445872" cy="571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60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6931F-D8DC-BF3B-C36F-934E2325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067E3-9A40-B11C-6286-871ECBCB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19035"/>
            <a:ext cx="7169426" cy="59475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3200" dirty="0"/>
              <a:t>Conclusão da Análise AV e AH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4BF82B2-35CB-040E-418C-CB704A2BD0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1147" y="1203427"/>
            <a:ext cx="9127435" cy="500853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sz="2400" b="1" dirty="0"/>
              <a:t>3. Conclusão Integrada</a:t>
            </a:r>
          </a:p>
          <a:p>
            <a:r>
              <a:rPr lang="pt-BR" sz="2400" dirty="0"/>
              <a:t>Em resumo, para cada </a:t>
            </a:r>
            <a:r>
              <a:rPr lang="pt-BR" sz="2400" b="1" dirty="0"/>
              <a:t>$ 1,00</a:t>
            </a:r>
            <a:r>
              <a:rPr lang="pt-BR" sz="2400" dirty="0"/>
              <a:t> faturado no 2º trimestre, a Fênix Contábil conseguiu ser mais eficiente que no 1º, pois reduziu seus custos operacionais e administrativos. </a:t>
            </a:r>
          </a:p>
          <a:p>
            <a:r>
              <a:rPr lang="pt-BR" sz="2400" dirty="0"/>
              <a:t>Essa melhora no resultado permitiu que o escritório pagasse suas dívidas de curto prazo, fortalecendo sua estrutura de capital próprio e tornando-a financeiramente mais sólida e independente.</a:t>
            </a:r>
          </a:p>
          <a:p>
            <a:r>
              <a:rPr lang="pt-BR" sz="2000" b="1" dirty="0"/>
              <a:t>Obs.:</a:t>
            </a:r>
            <a:r>
              <a:rPr lang="pt-BR" sz="2000" dirty="0"/>
              <a:t> embora a Fênix Contábil tenha recuperado a saúde, a margem de lucro de </a:t>
            </a:r>
            <a:r>
              <a:rPr lang="pt-BR" sz="2000" b="1" dirty="0"/>
              <a:t>1,67%</a:t>
            </a:r>
            <a:r>
              <a:rPr lang="pt-BR" sz="2000" dirty="0"/>
              <a:t> ainda é considerada pequena, exigindo que a gestão continue segurando as despesas nos próximos meses.</a:t>
            </a:r>
            <a:endParaRPr lang="pt-BR" sz="2000" dirty="0">
              <a:effectLst/>
            </a:endParaRP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440309A4-14BF-AE35-8BE4-ED25A84A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9618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F39D-1BA7-800B-D2A4-4519C810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959D5-DE99-ABB8-EF8F-6539B135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213" y="478670"/>
            <a:ext cx="10668000" cy="59475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3200" dirty="0"/>
              <a:t>EBITDA (Indicador Complementar)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37B114F-3736-4442-7611-BE37F7CC5A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889" y="1316935"/>
            <a:ext cx="10728324" cy="4646543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dirty="0"/>
              <a:t>EBITDA representa o resultado operacional da empresa antes de juros, impostos, depreciação e amortização, evidenciando a capacidade de geração de caixa do negócio.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Cálculo (2º Trimestre):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	Lucro Operacional: R$ 614,78</a:t>
            </a:r>
            <a:br>
              <a:rPr lang="pt-BR" dirty="0"/>
            </a:br>
            <a:r>
              <a:rPr lang="pt-BR" dirty="0"/>
              <a:t>	(+) Depreciação: R$ 397,60</a:t>
            </a:r>
          </a:p>
          <a:p>
            <a:r>
              <a:rPr lang="pt-BR" b="1" dirty="0"/>
              <a:t>EBITDA = R$ 1.012,38</a:t>
            </a:r>
            <a:endParaRPr lang="pt-BR" dirty="0"/>
          </a:p>
          <a:p>
            <a:r>
              <a:rPr lang="pt-BR" b="1" dirty="0"/>
              <a:t>Interpretação:</a:t>
            </a:r>
            <a:endParaRPr lang="pt-BR" dirty="0"/>
          </a:p>
          <a:p>
            <a:r>
              <a:rPr lang="pt-BR" dirty="0"/>
              <a:t>A empresa gerou aproximadamente </a:t>
            </a:r>
            <a:r>
              <a:rPr lang="pt-BR" b="1" dirty="0"/>
              <a:t>R$ 1.012,38</a:t>
            </a:r>
            <a:r>
              <a:rPr lang="pt-BR" dirty="0"/>
              <a:t> de resultado operacional no período, desconsiderando efeitos contábeis e financeiros.</a:t>
            </a:r>
          </a:p>
          <a:p>
            <a:r>
              <a:rPr lang="pt-BR" dirty="0"/>
              <a:t>✔️ Esse resultado reforça a </a:t>
            </a:r>
            <a:r>
              <a:rPr lang="pt-BR" b="1" dirty="0"/>
              <a:t>melhora no desempenho da empresa</a:t>
            </a:r>
            <a:r>
              <a:rPr lang="pt-BR" dirty="0"/>
              <a:t>, que passou a apresentar geração operacional positiva no 2º trimestre.</a:t>
            </a:r>
            <a:endParaRPr lang="pt-BR" dirty="0">
              <a:effectLst/>
            </a:endParaRP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17FFEFD7-7FEB-4EBE-DAAC-C2156C2A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2753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ítulo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740229"/>
            <a:ext cx="9866540" cy="135814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Quociente de Liquidez  //</a:t>
            </a:r>
            <a:br>
              <a:rPr lang="pt-BR" dirty="0"/>
            </a:br>
            <a:r>
              <a:rPr lang="pt-BR" dirty="0"/>
              <a:t>Quociente de rentabilidade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791115" y="2431005"/>
            <a:ext cx="8684728" cy="3780951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2200" dirty="0"/>
              <a:t>O  </a:t>
            </a:r>
            <a:r>
              <a:rPr lang="pt-BR" sz="2200" u="sng" dirty="0"/>
              <a:t>quociente de liquidez</a:t>
            </a:r>
            <a:r>
              <a:rPr lang="pt-BR" sz="2200" dirty="0"/>
              <a:t>  mede a capacidade de uma empresa pagar suas dívidas de curto prazo usando seus ativos circulantes. </a:t>
            </a:r>
          </a:p>
          <a:p>
            <a:endParaRPr lang="pt-BR" sz="2200" dirty="0"/>
          </a:p>
          <a:p>
            <a:r>
              <a:rPr lang="pt-BR" sz="2200" dirty="0"/>
              <a:t>Já o  </a:t>
            </a:r>
            <a:r>
              <a:rPr lang="pt-BR" sz="2200" u="sng" dirty="0"/>
              <a:t>quociente de rentabilidade</a:t>
            </a:r>
            <a:r>
              <a:rPr lang="pt-BR" sz="2200" b="1" dirty="0"/>
              <a:t>  </a:t>
            </a:r>
            <a:r>
              <a:rPr lang="pt-BR" sz="2200" dirty="0"/>
              <a:t>avalia a eficiência da empresa em gerar lucro a partir de suas operações, investimentos ou patrimônio. </a:t>
            </a:r>
          </a:p>
          <a:p>
            <a:endParaRPr lang="pt-BR" sz="2200" dirty="0"/>
          </a:p>
          <a:p>
            <a:r>
              <a:rPr lang="pt-BR" sz="2200" dirty="0"/>
              <a:t>Enquanto a liquidez foca na saúde financeira imediata, a rentabilidade foca no retorno econômico</a:t>
            </a:r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974" y="438913"/>
            <a:ext cx="9264428" cy="77366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3600" dirty="0"/>
              <a:t>Análise por quociente - </a:t>
            </a:r>
            <a:r>
              <a:rPr lang="pt-BR" sz="3600" dirty="0" err="1"/>
              <a:t>Bp</a:t>
            </a:r>
            <a:endParaRPr lang="pt-BR" sz="3600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26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6EFAA41-CD9C-97F0-8BA0-969570A22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74" y="1669772"/>
            <a:ext cx="9612296" cy="446267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64B1820-CCF0-169C-7AD1-115BC3268F6A}"/>
              </a:ext>
            </a:extLst>
          </p:cNvPr>
          <p:cNvSpPr txBox="1"/>
          <p:nvPr/>
        </p:nvSpPr>
        <p:spPr>
          <a:xfrm>
            <a:off x="793974" y="1063488"/>
            <a:ext cx="9264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Indicadores de Liquidez (Capacidade de Pagamento)</a:t>
            </a:r>
            <a:endParaRPr lang="pt-BR" sz="1400" dirty="0"/>
          </a:p>
          <a:p>
            <a:r>
              <a:rPr lang="pt-BR" sz="1400" dirty="0"/>
              <a:t>A liquidez da empresa melhorou significativamente, indicando que ela está mais "folgada" financeiramente.</a:t>
            </a:r>
            <a:endParaRPr lang="pt-BR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04CE4-AC18-B418-013E-2385A742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1AD41AD0-F19C-71D8-EC7F-ABAE88E86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974" y="348665"/>
            <a:ext cx="9264428" cy="59475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3600" dirty="0"/>
              <a:t>Análise por quociente - </a:t>
            </a:r>
            <a:r>
              <a:rPr lang="pt-BR" sz="3600" dirty="0" err="1"/>
              <a:t>dre</a:t>
            </a:r>
            <a:endParaRPr lang="pt-BR" sz="3600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6E086C5B-7176-FB77-EA4D-C4F48679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27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B478601-F61A-BD97-2716-D3D9FD205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73" y="1675020"/>
            <a:ext cx="10293502" cy="468133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91FCD5A-BC30-69BE-968D-EAACFB013054}"/>
              </a:ext>
            </a:extLst>
          </p:cNvPr>
          <p:cNvSpPr txBox="1"/>
          <p:nvPr/>
        </p:nvSpPr>
        <p:spPr>
          <a:xfrm>
            <a:off x="793974" y="962505"/>
            <a:ext cx="90843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Indicadores de Margem (Eficiência nas Vendas):  </a:t>
            </a:r>
            <a:r>
              <a:rPr lang="pt-BR" sz="1400" dirty="0"/>
              <a:t>A Empresa reverteu um prejuízo.</a:t>
            </a:r>
          </a:p>
          <a:p>
            <a:r>
              <a:rPr lang="pt-BR" sz="1400" b="1" dirty="0"/>
              <a:t>Indicadores de Rentabilidade (Retorno do Investimento)</a:t>
            </a:r>
            <a:endParaRPr lang="pt-BR" sz="1400" dirty="0"/>
          </a:p>
          <a:p>
            <a:r>
              <a:rPr lang="pt-BR" sz="1400" dirty="0"/>
              <a:t>Os sócios pararam de perder capital e começaram a ter retorno no segundo período.</a:t>
            </a:r>
          </a:p>
        </p:txBody>
      </p:sp>
    </p:spTree>
    <p:extLst>
      <p:ext uri="{BB962C8B-B14F-4D97-AF65-F5344CB8AC3E}">
        <p14:creationId xmlns:p14="http://schemas.microsoft.com/office/powerpoint/2010/main" val="3919982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21422-8778-BE2A-DE63-640A958B0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271DFECF-4F9D-1A67-CE60-E1FCD12F5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974" y="766109"/>
            <a:ext cx="8866861" cy="486221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sz="3600" dirty="0"/>
              <a:t>Análise por quociente 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03E678A9-97EA-9B4D-D6F7-9B0E607A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28</a:t>
            </a:fld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CB4E42-8200-DF6A-FC03-0658C99E8A67}"/>
              </a:ext>
            </a:extLst>
          </p:cNvPr>
          <p:cNvSpPr txBox="1"/>
          <p:nvPr/>
        </p:nvSpPr>
        <p:spPr>
          <a:xfrm>
            <a:off x="793974" y="1716687"/>
            <a:ext cx="942345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 Virada:</a:t>
            </a:r>
            <a:r>
              <a:rPr lang="pt-BR" sz="2000" dirty="0"/>
              <a:t> No 1º trimestre, a empresa estava em fase de "ajuste", operando com prejuízo de </a:t>
            </a:r>
            <a:r>
              <a:rPr lang="pt-BR" sz="2000" b="1" dirty="0"/>
              <a:t>$ 8.202,66</a:t>
            </a:r>
            <a:r>
              <a:rPr lang="pt-BR" sz="2000" dirty="0"/>
              <a:t>. No 2º trimestre, ela não só aumentou a receita em 31% (de $28.120 para$ 36.850), como também atingiu o </a:t>
            </a:r>
            <a:r>
              <a:rPr lang="pt-BR" sz="2000" b="1" dirty="0"/>
              <a:t>Lucro Líquido</a:t>
            </a:r>
            <a:r>
              <a:rPr lang="pt-BR" sz="2000" dirty="0"/>
              <a:t> de </a:t>
            </a:r>
            <a:r>
              <a:rPr lang="pt-BR" sz="2000" b="1" dirty="0"/>
              <a:t>$ 614,78</a:t>
            </a:r>
            <a:r>
              <a:rPr lang="pt-BR" sz="2000" dirty="0"/>
              <a:t>.</a:t>
            </a:r>
          </a:p>
          <a:p>
            <a:endParaRPr lang="pt-BR" sz="2000" dirty="0"/>
          </a:p>
          <a:p>
            <a:r>
              <a:rPr lang="pt-BR" sz="2000" b="1" dirty="0"/>
              <a:t>Controle de Custos:</a:t>
            </a:r>
            <a:r>
              <a:rPr lang="pt-BR" sz="2000" dirty="0"/>
              <a:t> A análise horizontal mostra que, enquanto a receita subiu, as despesas administrativas caíram de </a:t>
            </a:r>
            <a:r>
              <a:rPr lang="pt-BR" sz="2000" b="1" dirty="0"/>
              <a:t>$ 13.299,96</a:t>
            </a:r>
            <a:r>
              <a:rPr lang="pt-BR" sz="2000" dirty="0"/>
              <a:t> para </a:t>
            </a:r>
            <a:r>
              <a:rPr lang="pt-BR" sz="2000" b="1" dirty="0"/>
              <a:t>$ 9.757,59</a:t>
            </a:r>
            <a:r>
              <a:rPr lang="pt-BR" sz="2000" dirty="0"/>
              <a:t>. Isso explica por que a margem melhorou tanto.</a:t>
            </a:r>
          </a:p>
          <a:p>
            <a:endParaRPr lang="pt-BR" sz="2000" dirty="0"/>
          </a:p>
          <a:p>
            <a:r>
              <a:rPr lang="pt-BR" sz="2000" b="1" dirty="0"/>
              <a:t>Solidez:</a:t>
            </a:r>
            <a:r>
              <a:rPr lang="pt-BR" sz="2000" dirty="0"/>
              <a:t> A estrutura de capital é muito sólida, pois o </a:t>
            </a:r>
            <a:r>
              <a:rPr lang="pt-BR" sz="2000" b="1" dirty="0"/>
              <a:t>Patrimônio Líquido</a:t>
            </a:r>
            <a:r>
              <a:rPr lang="pt-BR" sz="2000" dirty="0"/>
              <a:t> ($ 58.443,24) é muito superior ao </a:t>
            </a:r>
            <a:r>
              <a:rPr lang="pt-BR" sz="2000" b="1" dirty="0"/>
              <a:t>Passivo Circulante</a:t>
            </a:r>
            <a:r>
              <a:rPr lang="pt-BR" sz="2000" dirty="0"/>
              <a:t> ($ 15.256,31), indicando baixa dependência de capital de terceiros.</a:t>
            </a:r>
          </a:p>
          <a:p>
            <a:r>
              <a:rPr lang="pt-B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341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3D9E8-359C-6EFE-03C2-68F20010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1BDE6C80-D429-49F7-E8E1-3B913FF6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625" y="259212"/>
            <a:ext cx="2324445" cy="486221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sz="2400" dirty="0"/>
              <a:t>Observação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6F50AD3A-2A34-C1B6-A2E2-7B83399D4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29</a:t>
            </a:fld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71C223-8A3A-4C82-CD48-BF72D3B679BE}"/>
              </a:ext>
            </a:extLst>
          </p:cNvPr>
          <p:cNvSpPr txBox="1"/>
          <p:nvPr/>
        </p:nvSpPr>
        <p:spPr>
          <a:xfrm>
            <a:off x="766625" y="745433"/>
            <a:ext cx="94234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solidFill>
                  <a:srgbClr val="1C1C1C"/>
                </a:solidFill>
              </a:rPr>
              <a:t>ROA (Retorno sobre Ativos) e ROE (Retorno sobre Patrimônio Líquido) são métricas de rentabilidade fundamentais. O ROA mede a eficiência operacional, indicando quanto lucro é gerado por todo o ativo. O ROE mede o retorno para os acionistas, mostrando o lucro em relação ao capital próprio.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solidFill>
                  <a:srgbClr val="1C1C1C"/>
                </a:solidFill>
              </a:rPr>
              <a:t> Principais Diferenças e Fórmulas:</a:t>
            </a:r>
            <a:br>
              <a:rPr lang="pt-BR" altLang="pt-BR" dirty="0">
                <a:solidFill>
                  <a:srgbClr val="1C1C1C"/>
                </a:solidFill>
              </a:rPr>
            </a:br>
            <a:endParaRPr lang="pt-BR" altLang="pt-BR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>
                <a:solidFill>
                  <a:srgbClr val="1C1C1C"/>
                </a:solidFill>
              </a:rPr>
              <a:t>ROA</a:t>
            </a:r>
            <a:r>
              <a:rPr lang="pt-BR" altLang="pt-BR" dirty="0">
                <a:solidFill>
                  <a:srgbClr val="1C1C1C"/>
                </a:solidFill>
              </a:rPr>
              <a:t> (</a:t>
            </a:r>
            <a:r>
              <a:rPr lang="pt-BR" altLang="pt-BR" dirty="0" err="1">
                <a:solidFill>
                  <a:srgbClr val="1C1C1C"/>
                </a:solidFill>
              </a:rPr>
              <a:t>Return</a:t>
            </a:r>
            <a:r>
              <a:rPr lang="pt-BR" altLang="pt-BR" dirty="0">
                <a:solidFill>
                  <a:srgbClr val="1C1C1C"/>
                </a:solidFill>
              </a:rPr>
              <a:t> </a:t>
            </a:r>
            <a:r>
              <a:rPr lang="pt-BR" altLang="pt-BR" dirty="0" err="1">
                <a:solidFill>
                  <a:srgbClr val="1C1C1C"/>
                </a:solidFill>
              </a:rPr>
              <a:t>on</a:t>
            </a:r>
            <a:r>
              <a:rPr lang="pt-BR" altLang="pt-BR" dirty="0">
                <a:solidFill>
                  <a:srgbClr val="1C1C1C"/>
                </a:solidFill>
              </a:rPr>
              <a:t> </a:t>
            </a:r>
            <a:r>
              <a:rPr lang="pt-BR" altLang="pt-BR" dirty="0" err="1">
                <a:solidFill>
                  <a:srgbClr val="1C1C1C"/>
                </a:solidFill>
              </a:rPr>
              <a:t>Assets</a:t>
            </a:r>
            <a:r>
              <a:rPr lang="pt-BR" altLang="pt-BR" dirty="0">
                <a:solidFill>
                  <a:srgbClr val="1C1C1C"/>
                </a:solidFill>
              </a:rPr>
              <a:t>): </a:t>
            </a:r>
            <a:r>
              <a:rPr lang="pt-BR" altLang="pt-BR" u="sng" dirty="0">
                <a:solidFill>
                  <a:srgbClr val="1C1C1C"/>
                </a:solidFill>
              </a:rPr>
              <a:t> Lucro Líquido </a:t>
            </a:r>
            <a:br>
              <a:rPr lang="pt-BR" altLang="pt-BR" dirty="0">
                <a:solidFill>
                  <a:srgbClr val="1C1C1C"/>
                </a:solidFill>
              </a:rPr>
            </a:br>
            <a:r>
              <a:rPr lang="pt-BR" altLang="pt-BR" dirty="0">
                <a:solidFill>
                  <a:srgbClr val="1C1C1C"/>
                </a:solidFill>
              </a:rPr>
              <a:t>		                Ativo Total</a:t>
            </a:r>
            <a:endParaRPr lang="pt-BR" altLang="pt-BR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dirty="0">
                <a:solidFill>
                  <a:srgbClr val="1C1C1C"/>
                </a:solidFill>
              </a:rPr>
              <a:t>Mostra se a empresa usa bem seus recursos (máquinas, dinheiro, estoques) para gerar lucro, independentemente de como foram financiados.</a:t>
            </a:r>
            <a:br>
              <a:rPr lang="pt-BR" altLang="pt-BR" dirty="0">
                <a:solidFill>
                  <a:srgbClr val="1C1C1C"/>
                </a:solidFill>
              </a:rPr>
            </a:br>
            <a:endParaRPr lang="pt-BR" altLang="pt-BR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>
                <a:solidFill>
                  <a:srgbClr val="1C1C1C"/>
                </a:solidFill>
              </a:rPr>
              <a:t>ROE</a:t>
            </a:r>
            <a:r>
              <a:rPr lang="pt-BR" altLang="pt-BR" dirty="0">
                <a:solidFill>
                  <a:srgbClr val="1C1C1C"/>
                </a:solidFill>
              </a:rPr>
              <a:t> (</a:t>
            </a:r>
            <a:r>
              <a:rPr lang="pt-BR" altLang="pt-BR" dirty="0" err="1">
                <a:solidFill>
                  <a:srgbClr val="1C1C1C"/>
                </a:solidFill>
              </a:rPr>
              <a:t>Return</a:t>
            </a:r>
            <a:r>
              <a:rPr lang="pt-BR" altLang="pt-BR" dirty="0">
                <a:solidFill>
                  <a:srgbClr val="1C1C1C"/>
                </a:solidFill>
              </a:rPr>
              <a:t> </a:t>
            </a:r>
            <a:r>
              <a:rPr lang="pt-BR" altLang="pt-BR" dirty="0" err="1">
                <a:solidFill>
                  <a:srgbClr val="1C1C1C"/>
                </a:solidFill>
              </a:rPr>
              <a:t>on</a:t>
            </a:r>
            <a:r>
              <a:rPr lang="pt-BR" altLang="pt-BR" dirty="0">
                <a:solidFill>
                  <a:srgbClr val="1C1C1C"/>
                </a:solidFill>
              </a:rPr>
              <a:t> </a:t>
            </a:r>
            <a:r>
              <a:rPr lang="pt-BR" altLang="pt-BR" dirty="0" err="1">
                <a:solidFill>
                  <a:srgbClr val="1C1C1C"/>
                </a:solidFill>
              </a:rPr>
              <a:t>Equity</a:t>
            </a:r>
            <a:r>
              <a:rPr lang="pt-BR" altLang="pt-BR" dirty="0">
                <a:solidFill>
                  <a:srgbClr val="1C1C1C"/>
                </a:solidFill>
              </a:rPr>
              <a:t>):     </a:t>
            </a:r>
            <a:r>
              <a:rPr lang="pt-BR" altLang="pt-BR" u="sng" dirty="0">
                <a:solidFill>
                  <a:srgbClr val="1C1C1C"/>
                </a:solidFill>
              </a:rPr>
              <a:t>Lucro Líquido </a:t>
            </a:r>
            <a:br>
              <a:rPr lang="pt-BR" altLang="pt-BR" dirty="0">
                <a:solidFill>
                  <a:srgbClr val="1C1C1C"/>
                </a:solidFill>
              </a:rPr>
            </a:br>
            <a:r>
              <a:rPr lang="pt-BR" altLang="pt-BR" dirty="0">
                <a:solidFill>
                  <a:srgbClr val="1C1C1C"/>
                </a:solidFill>
              </a:rPr>
              <a:t>	                             Patrimônio Líquido</a:t>
            </a:r>
            <a:endParaRPr lang="pt-BR" altLang="pt-BR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dirty="0">
                <a:solidFill>
                  <a:srgbClr val="1C1C1C"/>
                </a:solidFill>
              </a:rPr>
              <a:t>Indica a rentabilidade do dinheiro dos sócios. Um ROE alto pode indicar boa gestão ou, em alguns casos, alto endividamento.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dirty="0">
              <a:solidFill>
                <a:srgbClr val="1C1C1C"/>
              </a:solidFill>
              <a:cs typeface="Liberation Serif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solidFill>
                  <a:srgbClr val="1F1F1F"/>
                </a:solidFill>
                <a:cs typeface="Liberation Serif" panose="02020603050405020304" pitchFamily="18" charset="0"/>
              </a:rPr>
              <a:t>Para fixar:</a:t>
            </a:r>
            <a:endParaRPr lang="pt-BR" altLang="pt-BR" dirty="0">
              <a:cs typeface="Liberation Serif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dirty="0">
                <a:solidFill>
                  <a:srgbClr val="1F1F1F"/>
                </a:solidFill>
              </a:rPr>
              <a:t>ROA</a:t>
            </a:r>
            <a:r>
              <a:rPr lang="pt-BR" altLang="pt-BR" dirty="0">
                <a:solidFill>
                  <a:srgbClr val="1F1F1F"/>
                </a:solidFill>
              </a:rPr>
              <a:t> = eficiência da empresa – a Empresa e</a:t>
            </a:r>
            <a:r>
              <a:rPr lang="pt-BR" altLang="pt-BR" dirty="0"/>
              <a:t>stá sendo eficiente? </a:t>
            </a:r>
            <a:br>
              <a:rPr lang="pt-BR" altLang="pt-BR" dirty="0">
                <a:solidFill>
                  <a:srgbClr val="1F1F1F"/>
                </a:solidFill>
              </a:rPr>
            </a:br>
            <a:r>
              <a:rPr lang="pt-BR" altLang="pt-BR" sz="1600" dirty="0">
                <a:solidFill>
                  <a:srgbClr val="1F1F1F"/>
                </a:solidFill>
              </a:rPr>
              <a:t>ROE </a:t>
            </a:r>
            <a:r>
              <a:rPr lang="pt-BR" altLang="pt-BR" dirty="0">
                <a:solidFill>
                  <a:srgbClr val="1F1F1F"/>
                </a:solidFill>
              </a:rPr>
              <a:t>= retorno para os sócios - </a:t>
            </a:r>
            <a:r>
              <a:rPr lang="pt-BR" altLang="pt-BR" dirty="0"/>
              <a:t>Está valendo a pena investir nesta Empresa?</a:t>
            </a:r>
            <a:r>
              <a:rPr lang="pt-BR" sz="1200" dirty="0"/>
              <a:t>.</a:t>
            </a:r>
          </a:p>
        </p:txBody>
      </p:sp>
      <p:pic>
        <p:nvPicPr>
          <p:cNvPr id="2050" name="Picture 2" descr="TOTVS">
            <a:extLst>
              <a:ext uri="{FF2B5EF4-FFF2-40B4-BE49-F238E27FC236}">
                <a16:creationId xmlns:a16="http://schemas.microsoft.com/office/drawing/2014/main" id="{EC88A296-3ADD-A0E0-6C32-323BF6B48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168275"/>
            <a:ext cx="114300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276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30</a:t>
            </a:fld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9E5BFEF-88D6-30A1-04CE-F5FEAEC49C61}"/>
              </a:ext>
            </a:extLst>
          </p:cNvPr>
          <p:cNvSpPr txBox="1">
            <a:spLocks/>
          </p:cNvSpPr>
          <p:nvPr/>
        </p:nvSpPr>
        <p:spPr>
          <a:xfrm>
            <a:off x="6099905" y="655634"/>
            <a:ext cx="5528217" cy="26853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8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err="1"/>
              <a:t>OBRIGADa</a:t>
            </a:r>
            <a:r>
              <a:rPr lang="pt-BR" dirty="0"/>
              <a:t>!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23FA5551-6245-7E9E-C0D5-8C6D410BFB64}"/>
              </a:ext>
            </a:extLst>
          </p:cNvPr>
          <p:cNvSpPr txBox="1">
            <a:spLocks/>
          </p:cNvSpPr>
          <p:nvPr/>
        </p:nvSpPr>
        <p:spPr>
          <a:xfrm>
            <a:off x="6096000" y="3535122"/>
            <a:ext cx="5528217" cy="2029969"/>
          </a:xfrm>
          <a:prstGeom prst="rect">
            <a:avLst/>
          </a:prstGeom>
        </p:spPr>
        <p:txBody>
          <a:bodyPr vert="horz" lIns="91440" tIns="45720" rIns="91440" bIns="0" rtlCol="0">
            <a:normAutofit fontScale="77500" lnSpcReduction="20000"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Neusa Oliveira</a:t>
            </a:r>
          </a:p>
          <a:p>
            <a:r>
              <a:rPr lang="it-IT" dirty="0"/>
              <a:t>Técnico em Contabilidade</a:t>
            </a:r>
          </a:p>
          <a:p>
            <a:r>
              <a:rPr lang="it-IT" dirty="0"/>
              <a:t>Turma 1.2025​ (final do curso 14/04/2026)</a:t>
            </a:r>
          </a:p>
          <a:p>
            <a:r>
              <a:rPr lang="it-IT" dirty="0"/>
              <a:t>Senac - Campinas</a:t>
            </a:r>
          </a:p>
        </p:txBody>
      </p:sp>
    </p:spTree>
    <p:extLst>
      <p:ext uri="{BB962C8B-B14F-4D97-AF65-F5344CB8AC3E}">
        <p14:creationId xmlns:p14="http://schemas.microsoft.com/office/powerpoint/2010/main" val="301581963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16617_TF33968143_Win32" id="{9859B2A7-720E-43B8-B163-C4FA1348C072}" vid="{81432EBA-4F54-4F87-808A-9B3E09D358D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C1458CC37B0444BA56125A6038E995" ma:contentTypeVersion="3" ma:contentTypeDescription="Crie um novo documento." ma:contentTypeScope="" ma:versionID="e6bb0adb1c29ddeba0a18117c6f399e4">
  <xsd:schema xmlns:xsd="http://www.w3.org/2001/XMLSchema" xmlns:xs="http://www.w3.org/2001/XMLSchema" xmlns:p="http://schemas.microsoft.com/office/2006/metadata/properties" xmlns:ns2="b7314150-17d6-4c36-bab9-49cf38293ea3" targetNamespace="http://schemas.microsoft.com/office/2006/metadata/properties" ma:root="true" ma:fieldsID="b320da244ecc769aa9541d299bf201ed" ns2:_="">
    <xsd:import namespace="b7314150-17d6-4c36-bab9-49cf38293e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4150-17d6-4c36-bab9-49cf38293e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8124EF-81D8-48BE-8AA9-BBEAC3B1BA4C}"/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{9F193D6C-9CCE-4750-BF18-8FEED950A685}TF55c86556-70ea-476e-aa05-13a38f2d5b0d9b1b9b2c_win32-79f83a7486aa</Template>
  <TotalTime>748</TotalTime>
  <Words>2829</Words>
  <Application>Microsoft Office PowerPoint</Application>
  <PresentationFormat>Widescreen</PresentationFormat>
  <Paragraphs>253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7" baseType="lpstr">
      <vt:lpstr>Aptos</vt:lpstr>
      <vt:lpstr>Arial</vt:lpstr>
      <vt:lpstr>Avenir Next LT Pro</vt:lpstr>
      <vt:lpstr>Calibri</vt:lpstr>
      <vt:lpstr>Liberation Serif</vt:lpstr>
      <vt:lpstr>Wingdings</vt:lpstr>
      <vt:lpstr>Personalizado</vt:lpstr>
      <vt:lpstr>Cálculo  Depreciação</vt:lpstr>
      <vt:lpstr>Incidência</vt:lpstr>
      <vt:lpstr>Cálculo da Depreciação Trimestral</vt:lpstr>
      <vt:lpstr>Lançamento Contábil</vt:lpstr>
      <vt:lpstr>Nota: Imobilizado e Depreciação</vt:lpstr>
      <vt:lpstr>Custos Totais</vt:lpstr>
      <vt:lpstr>Custos dos Serviços Prestados (CSP)</vt:lpstr>
      <vt:lpstr>Salário Assist. Adm. + Encargos</vt:lpstr>
      <vt:lpstr>Pró Labore + Encargos</vt:lpstr>
      <vt:lpstr>Sistema Contábil</vt:lpstr>
      <vt:lpstr>Impostos: Simples nacional</vt:lpstr>
      <vt:lpstr>RBT12 e a Faixa de Faturamento</vt:lpstr>
      <vt:lpstr>Tabela Anexo III  (Atualizada 2025/2026)</vt:lpstr>
      <vt:lpstr>Cálculo Simples Nacional – DAS (1º Trimestre)</vt:lpstr>
      <vt:lpstr>Cálculo Simples Nacional – DAS (1º Trimestre)</vt:lpstr>
      <vt:lpstr>Cálculo Simples Nacional – das  (2º trimestre)</vt:lpstr>
      <vt:lpstr>Cálculo Simples Nacional – das  (2º trimestre)</vt:lpstr>
      <vt:lpstr>Impostos sobre a Receita (Deduções) </vt:lpstr>
      <vt:lpstr>Outros Encargos (Despesas Operacionais)</vt:lpstr>
      <vt:lpstr>Análise Horizontal (AH) // Análise Vertical (AV) </vt:lpstr>
      <vt:lpstr>AH e AV – Balanço Patrimonial</vt:lpstr>
      <vt:lpstr>AH e AV – Demonstrativo do Resultado</vt:lpstr>
      <vt:lpstr>Conclusão da Análise AV e AH</vt:lpstr>
      <vt:lpstr>EBITDA (Indicador Complementar)</vt:lpstr>
      <vt:lpstr>Quociente de Liquidez  // Quociente de rentabilidade</vt:lpstr>
      <vt:lpstr>Análise por quociente - Bp</vt:lpstr>
      <vt:lpstr>Análise por quociente - dre</vt:lpstr>
      <vt:lpstr>Análise por quociente </vt:lpstr>
      <vt:lpstr>Observação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NEUSA IRMA DE OLIVEIRA</dc:creator>
  <cp:lastModifiedBy>NEUSA IRMA DE OLIVEIRA</cp:lastModifiedBy>
  <cp:revision>16</cp:revision>
  <dcterms:created xsi:type="dcterms:W3CDTF">2026-03-23T12:17:18Z</dcterms:created>
  <dcterms:modified xsi:type="dcterms:W3CDTF">2026-04-09T20:01:21Z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0x0101006CC1458CC37B0444BA56125A6038E995</vt:lpwstr>
  </property>
</Properties>
</file>